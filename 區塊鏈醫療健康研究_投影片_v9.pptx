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86" r:id="rId25"/>
    <p:sldId id="279" r:id="rId26"/>
    <p:sldId id="280" r:id="rId27"/>
    <p:sldId id="281" r:id="rId28"/>
    <p:sldId id="282" r:id="rId29"/>
    <p:sldId id="283" r:id="rId30"/>
    <p:sldId id="284" r:id="rId31"/>
    <p:sldId id="285" r:id="rId3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986350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?>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?>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?>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?>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?>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?>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?>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?>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?>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?>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?>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?>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?>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?>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?>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?>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?>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?>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?>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?>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?>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?>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?>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?>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?>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?>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?>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youtu.be/r9GPeQ4MA68" TargetMode="External"/><Relationship Id="rId3" Type="http://schemas.openxmlformats.org/officeDocument/2006/relationships/hyperlink" Target="https://youtu.be/AFJQzRuUZfQ" TargetMode="External"/></Relationships>
</file>

<file path=ppt/slides/_rels/slide25.xml.rels><?xml version="1.0" encoding="UTF-8"?>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6.xml.rels><?xml version="1.0" encoding="UTF-8"?>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7.xml.rels><?xml version="1.0" encoding="UTF-8"?>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8.xml.rels><?xml version="1.0" encoding="UTF-8"?>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9.xml.rels><?xml version="1.0" encoding="UTF-8"?>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0.xml.rels><?xml version="1.0" encoding="UTF-8"?>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1.xml.rels><?xml version="1.0" encoding="UTF-8"?>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0" y="4023360"/>
            <a:ext cx="9144000" cy="112014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Shape 2"/>
          <p:cNvSpPr/>
          <p:nvPr/>
        </p:nvSpPr>
        <p:spPr>
          <a:xfrm>
            <a:off x="457200" y="2057400"/>
            <a:ext cx="8686800" cy="4572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685800" y="4114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區塊鏈於醫療健康資料管理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85800" y="11887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之創新應用研究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85800" y="221284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區塊鏈 × 醫療健康 — 病歷 / 藥品供應鏈的不可竄改紀錄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85800" y="2852928"/>
            <a:ext cx="1938528" cy="384048"/>
          </a:xfrm>
          <a:prstGeom prst="rect">
            <a:avLst/>
          </a:prstGeom>
          <a:solidFill>
            <a:srgbClr val="1460AA"/>
          </a:solidFill>
          <a:ln w="9525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685800" y="2852928"/>
            <a:ext cx="1938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Hyperledger Fabric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70632" y="2852928"/>
            <a:ext cx="1938528" cy="384048"/>
          </a:xfrm>
          <a:prstGeom prst="rect">
            <a:avLst/>
          </a:prstGeom>
          <a:solidFill>
            <a:srgbClr val="1460AA"/>
          </a:solidFill>
          <a:ln w="9525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2770632" y="2852928"/>
            <a:ext cx="1938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Contract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55464" y="2852928"/>
            <a:ext cx="1938528" cy="384048"/>
          </a:xfrm>
          <a:prstGeom prst="rect">
            <a:avLst/>
          </a:prstGeom>
          <a:solidFill>
            <a:srgbClr val="1460AA"/>
          </a:solidFill>
          <a:ln w="9525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4855464" y="2852928"/>
            <a:ext cx="1938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IPFS + ABE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940296" y="2852928"/>
            <a:ext cx="1938528" cy="384048"/>
          </a:xfrm>
          <a:prstGeom prst="rect">
            <a:avLst/>
          </a:prstGeom>
          <a:solidFill>
            <a:srgbClr val="1460AA"/>
          </a:solidFill>
          <a:ln w="9525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6940296" y="2852928"/>
            <a:ext cx="1938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Pharmaceutical Traceability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85800" y="42062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Healthcare Research  ·  2025 – 2026</a:t>
            </a:r>
            <a:endParaRPr lang="en-US" sz="1100" dirty="0"/>
          </a:p>
        </p:txBody>
      </p:sp>
      <p:sp>
        <p:nvSpPr>
          <p:cNvPr id="18" name="Text Members"/>
          <p:cNvSpPr/>
          <p:nvPr/>
        </p:nvSpPr>
        <p:spPr>
          <a:xfrm>
            <a:off x="685800" y="455832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altLang="en-US" sz="9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</a:rPr>
              <a:t>第 5 組</a:t>
            </a:r>
            <a:r>
              <a:rPr lang="zh-TW" alt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</a:rPr>
              <a:t xml:space="preserve">  |  411106227 蔡承勳  411106233 林佳嶔  411106239 温家昇  411106243 李敬源</a:t>
            </a:r>
          </a:p>
        </p:txBody>
      </p:sp>
      <p:sp>
        <p:nvSpPr>
          <p:cNvPr id="17" name="Text 15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30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F4A22D"/>
          </a:solidFill>
          <a:ln w="12700">
            <a:solidFill>
              <a:srgbClr val="F4A22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685800" y="109728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醫療資料正面臨</a:t>
            </a:r>
            <a:endParaRPr lang="en-US" sz="4600" dirty="0"/>
          </a:p>
          <a:p>
            <a:pPr marL="0" indent="0" algn="l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前所未有的信任危機</a:t>
            </a:r>
            <a:endParaRPr lang="en-US" sz="4600" dirty="0"/>
          </a:p>
        </p:txBody>
      </p:sp>
      <p:sp>
        <p:nvSpPr>
          <p:cNvPr id="4" name="Shape 2"/>
          <p:cNvSpPr/>
          <p:nvPr/>
        </p:nvSpPr>
        <p:spPr>
          <a:xfrm>
            <a:off x="685800" y="3246120"/>
            <a:ext cx="8458200" cy="45720"/>
          </a:xfrm>
          <a:prstGeom prst="rect">
            <a:avLst/>
          </a:prstGeom>
          <a:solidFill>
            <a:srgbClr val="F4A22D"/>
          </a:solidFill>
          <a:ln w="12700">
            <a:solidFill>
              <a:srgbClr val="F4A22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685800" y="34290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資料外洩 · 假藥氾濫 · 病歷造假 · 隱私侵害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30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83210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0000" b="1" dirty="0">
                <a:solidFill>
                  <a:srgbClr val="F4A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$7.42M</a:t>
            </a:r>
            <a:endParaRPr lang="en-US" sz="10000" dirty="0"/>
          </a:p>
        </p:txBody>
      </p:sp>
      <p:sp>
        <p:nvSpPr>
          <p:cNvPr id="4" name="Shape 2"/>
          <p:cNvSpPr/>
          <p:nvPr/>
        </p:nvSpPr>
        <p:spPr>
          <a:xfrm>
            <a:off x="320040" y="2267712"/>
            <a:ext cx="8823960" cy="54864"/>
          </a:xfrm>
          <a:prstGeom prst="rect">
            <a:avLst/>
          </a:prstGeom>
          <a:solidFill>
            <a:srgbClr val="F4A22D"/>
          </a:solidFill>
          <a:ln w="12700">
            <a:solidFill>
              <a:srgbClr val="F4A22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548640" y="239572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醫療業平均資料外洩成本（2025）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306324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連續第 14 年位居全行業之首，較前年下降 $2.35M，仍遠超其他所有行業。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4800600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來源：IBM Cost of a Data Breach Report 2025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30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83210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0000" b="1" dirty="0">
                <a:solidFill>
                  <a:srgbClr val="F4A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1.927 億</a:t>
            </a:r>
            <a:endParaRPr lang="en-US" sz="10000" dirty="0"/>
          </a:p>
        </p:txBody>
      </p:sp>
      <p:sp>
        <p:nvSpPr>
          <p:cNvPr id="4" name="Shape 2"/>
          <p:cNvSpPr/>
          <p:nvPr/>
        </p:nvSpPr>
        <p:spPr>
          <a:xfrm>
            <a:off x="320040" y="2267712"/>
            <a:ext cx="8823960" cy="54864"/>
          </a:xfrm>
          <a:prstGeom prst="rect">
            <a:avLst/>
          </a:prstGeom>
          <a:solidFill>
            <a:srgbClr val="F4A22D"/>
          </a:solidFill>
          <a:ln w="12700">
            <a:solidFill>
              <a:srgbClr val="F4A22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548640" y="239572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Healthcare 事件受影響患者紀錄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306324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史上最大規模醫療資料外洩事件，2025 年 7 月 31 日由 Change Healthcare 向 HHS OCR 最終通報。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4800600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來源：U.S. HHS Office for Civil Rights – Change Healthcare Cybersecurity Incident FAQ (2025)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30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4572000" y="0"/>
            <a:ext cx="45720" cy="5143500"/>
          </a:xfrm>
          <a:prstGeom prst="rect">
            <a:avLst/>
          </a:prstGeom>
          <a:solidFill>
            <a:srgbClr val="1A3A4A"/>
          </a:solidFill>
          <a:ln w="12700">
            <a:solidFill>
              <a:srgbClr val="1A3A4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3840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4A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10</a:t>
            </a:r>
            <a:endParaRPr lang="en-US" sz="7200" dirty="0"/>
          </a:p>
        </p:txBody>
      </p:sp>
      <p:sp>
        <p:nvSpPr>
          <p:cNvPr id="5" name="Shape 3"/>
          <p:cNvSpPr/>
          <p:nvPr/>
        </p:nvSpPr>
        <p:spPr>
          <a:xfrm>
            <a:off x="548640" y="2176272"/>
            <a:ext cx="3840480" cy="45720"/>
          </a:xfrm>
          <a:prstGeom prst="rect">
            <a:avLst/>
          </a:prstGeom>
          <a:solidFill>
            <a:srgbClr val="F4A22D"/>
          </a:solidFill>
          <a:ln w="12700">
            <a:solidFill>
              <a:srgbClr val="F4A22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548640" y="230428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低中收入國家藥品為假冒品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285292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Fact Sheet，2024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54880" y="548640"/>
            <a:ext cx="4206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267,000</a:t>
            </a:r>
            <a:endParaRPr lang="en-US" sz="7200" dirty="0"/>
          </a:p>
        </p:txBody>
      </p:sp>
      <p:sp>
        <p:nvSpPr>
          <p:cNvPr id="9" name="Shape 7"/>
          <p:cNvSpPr/>
          <p:nvPr/>
        </p:nvSpPr>
        <p:spPr>
          <a:xfrm>
            <a:off x="4754880" y="2176272"/>
            <a:ext cx="4206240" cy="45720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4754880" y="2304288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非洲每年死亡人數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與假冒抗瘧疾藥物相關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754880" y="303580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另 169,271 人死亡與假冒抗生素相關（UNODC, 2023）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30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本研究的三個核心問題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77824"/>
            <a:ext cx="8229600" cy="36576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30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8229600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457200" y="1143000"/>
            <a:ext cx="822960" cy="1078992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457200" y="1143000"/>
            <a:ext cx="8229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417320" y="1453896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如何解決醫療資料孤島與病歷竄改問題？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57200" y="2404872"/>
            <a:ext cx="8229600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457200" y="2404872"/>
            <a:ext cx="822960" cy="1078992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457200" y="2404872"/>
            <a:ext cx="8229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417320" y="2715768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如何保障藥品供應鏈的真偽可信度？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457200" y="3666744"/>
            <a:ext cx="8229600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457200" y="3666744"/>
            <a:ext cx="822960" cy="1078992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457200" y="3666744"/>
            <a:ext cx="8229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417320" y="397764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區塊鏈落地時面臨哪些現實挑戰？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457200" y="1920240"/>
            <a:ext cx="8686800" cy="4572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685800" y="7772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 01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1188720"/>
            <a:ext cx="8046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業務情境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85800" y="22860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病歷管理 · 藥品供應鏈 · 健康資料交換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30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場景一：電子病歷（EMR）管理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77824"/>
            <a:ext cx="8229600" cy="36576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30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2633472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2633472" cy="411480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457200" y="1051560"/>
            <a:ext cx="2633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就診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66928" y="1527048"/>
            <a:ext cx="2414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資料輸入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66928" y="1984248"/>
            <a:ext cx="2414016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醫師於醫院 HIS 輸入病歷，儲存於院內私有伺服器或雲端平台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255264" y="1051560"/>
            <a:ext cx="2633472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3255264" y="1051560"/>
            <a:ext cx="2633472" cy="411480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3255264" y="1051560"/>
            <a:ext cx="2633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轉診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364992" y="1527048"/>
            <a:ext cx="2414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跨院調閱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64992" y="1984248"/>
            <a:ext cx="2414016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需人工申請，以紙本或 CD 傳遞，等待時間長、資訊落差大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053328" y="1051560"/>
            <a:ext cx="2633472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6053328" y="1051560"/>
            <a:ext cx="2633472" cy="411480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6053328" y="1051560"/>
            <a:ext cx="2633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應用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163056" y="1527048"/>
            <a:ext cx="2414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二次利用困難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163056" y="1984248"/>
            <a:ext cx="2414016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保險理賠流程繁複；研究機構難以取得大規模去識別化資料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場景二：藥品供應鏈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77824"/>
            <a:ext cx="8229600" cy="36576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30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1280160" cy="640080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457200" y="132588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原料藥廠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737360" y="1645920"/>
            <a:ext cx="164592" cy="0"/>
          </a:xfrm>
          <a:prstGeom prst="line">
            <a:avLst/>
          </a:prstGeom>
          <a:noFill/>
          <a:ln w="19050">
            <a:solidFill>
              <a:srgbClr val="8FA3B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1737360" y="1481328"/>
            <a:ext cx="164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901952" y="1325880"/>
            <a:ext cx="1280160" cy="640080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1901952" y="132588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製藥廠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182112" y="1645920"/>
            <a:ext cx="164592" cy="0"/>
          </a:xfrm>
          <a:prstGeom prst="line">
            <a:avLst/>
          </a:prstGeom>
          <a:noFill/>
          <a:ln w="19050">
            <a:solidFill>
              <a:srgbClr val="8FA3B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3182112" y="1481328"/>
            <a:ext cx="164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346704" y="1325880"/>
            <a:ext cx="1280160" cy="640080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3346704" y="132588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批發商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626864" y="1645920"/>
            <a:ext cx="164592" cy="0"/>
          </a:xfrm>
          <a:prstGeom prst="line">
            <a:avLst/>
          </a:prstGeom>
          <a:noFill/>
          <a:ln w="19050">
            <a:solidFill>
              <a:srgbClr val="8FA3B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/>
          <p:nvPr/>
        </p:nvSpPr>
        <p:spPr>
          <a:xfrm>
            <a:off x="4626864" y="1481328"/>
            <a:ext cx="164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791456" y="1325880"/>
            <a:ext cx="1280160" cy="640080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/>
          <p:nvPr/>
        </p:nvSpPr>
        <p:spPr>
          <a:xfrm>
            <a:off x="4791456" y="132588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藥局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071616" y="1645920"/>
            <a:ext cx="164592" cy="0"/>
          </a:xfrm>
          <a:prstGeom prst="line">
            <a:avLst/>
          </a:prstGeom>
          <a:noFill/>
          <a:ln w="19050">
            <a:solidFill>
              <a:srgbClr val="8FA3B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9"/>
          <p:cNvSpPr/>
          <p:nvPr/>
        </p:nvSpPr>
        <p:spPr>
          <a:xfrm>
            <a:off x="6071616" y="1481328"/>
            <a:ext cx="164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236208" y="1325880"/>
            <a:ext cx="1280160" cy="640080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3" name="Text 21"/>
          <p:cNvSpPr/>
          <p:nvPr/>
        </p:nvSpPr>
        <p:spPr>
          <a:xfrm>
            <a:off x="6236208" y="132588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患者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2331720"/>
            <a:ext cx="274320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5" name="Shape 23"/>
          <p:cNvSpPr/>
          <p:nvPr/>
        </p:nvSpPr>
        <p:spPr>
          <a:xfrm>
            <a:off x="457200" y="2331720"/>
            <a:ext cx="2743200" cy="54864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Text 24"/>
          <p:cNvSpPr/>
          <p:nvPr/>
        </p:nvSpPr>
        <p:spPr>
          <a:xfrm>
            <a:off x="548640" y="24688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鏈條長、多方參與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8640" y="2944368"/>
            <a:ext cx="2560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5+ 類利害關係人，各有私有系統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3355848" y="2331720"/>
            <a:ext cx="274320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9" name="Shape 27"/>
          <p:cNvSpPr/>
          <p:nvPr/>
        </p:nvSpPr>
        <p:spPr>
          <a:xfrm>
            <a:off x="3355848" y="2331720"/>
            <a:ext cx="2743200" cy="54864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0" name="Text 28"/>
          <p:cNvSpPr/>
          <p:nvPr/>
        </p:nvSpPr>
        <p:spPr>
          <a:xfrm>
            <a:off x="3447288" y="24688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條碼追蹤易仿製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447288" y="2944368"/>
            <a:ext cx="2560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現行 QR Code 無法提供可信真偽驗證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254496" y="2331720"/>
            <a:ext cx="274320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33" name="Shape 31"/>
          <p:cNvSpPr/>
          <p:nvPr/>
        </p:nvSpPr>
        <p:spPr>
          <a:xfrm>
            <a:off x="6254496" y="2331720"/>
            <a:ext cx="2743200" cy="54864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4" name="Text 32"/>
          <p:cNvSpPr/>
          <p:nvPr/>
        </p:nvSpPr>
        <p:spPr>
          <a:xfrm>
            <a:off x="6345936" y="24688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冷鏈溫控不透明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345936" y="2944368"/>
            <a:ext cx="2560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胰島素、疫苗儲運合規性難以稽核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場景三：健康資料交換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77824"/>
            <a:ext cx="8229600" cy="36576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30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3474720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3474720" cy="438912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548640" y="1051560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多元健康資料來源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16002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基因組學資料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222199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穿戴裝置數據（Apple Watch, CGM）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" y="2843784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慢性病管理紀錄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4360" y="3465576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醫院 EMR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069080" y="265176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9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4846320" y="1051560"/>
            <a:ext cx="3840480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4846320" y="1051560"/>
            <a:ext cx="3840480" cy="438912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4937760" y="1051560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資料需求方 &amp; 法規框架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83480" y="160020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主治 / 專科醫師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83480" y="222199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保險公司、健康管理平台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83480" y="2843784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個資法 / GDPR / HIPAA 保護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83480" y="3465576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需在隱私保護下安全共享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457200" y="1920240"/>
            <a:ext cx="8686800" cy="4572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685800" y="7772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 02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1188720"/>
            <a:ext cx="8046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現狀關鍵問題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85800" y="22860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資料孤島 · 資安漏洞 · 假藥氾濫 · 召回困難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30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病歷管理：四大問題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77824"/>
            <a:ext cx="8229600" cy="36576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30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4069080" cy="1810512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4069080" cy="420624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566928" y="1051560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 資料孤島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66928" y="1545336"/>
            <a:ext cx="384048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各院 HIS 封閉，跨院轉診無法即時取得完整病史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709160" y="1051560"/>
            <a:ext cx="4069080" cy="1810512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4709160" y="1051560"/>
            <a:ext cx="4069080" cy="42062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4818888" y="1051560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 資安漏洞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18888" y="1545336"/>
            <a:ext cx="384048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單點失效架構；Change Healthcare 波及 1.927 億筆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57200" y="3017520"/>
            <a:ext cx="4069080" cy="1810512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457200" y="3017520"/>
            <a:ext cx="4069080" cy="420624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566928" y="3017520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 資料可竄改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66928" y="3511296"/>
            <a:ext cx="384048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管理員可不留痕跡修改紀錄；醫療糾紛舉證困難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4709160" y="3017520"/>
            <a:ext cx="4069080" cy="1810512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9" name="Shape 17"/>
          <p:cNvSpPr/>
          <p:nvPr/>
        </p:nvSpPr>
        <p:spPr>
          <a:xfrm>
            <a:off x="4709160" y="3017520"/>
            <a:ext cx="4069080" cy="42062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8"/>
          <p:cNvSpPr/>
          <p:nvPr/>
        </p:nvSpPr>
        <p:spPr>
          <a:xfrm>
            <a:off x="4818888" y="3017520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 授權控制薄弱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18888" y="3511296"/>
            <a:ext cx="384048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患者無法精細管控誰能查看哪些資料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藥品供應鏈：三大問題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77824"/>
            <a:ext cx="8229600" cy="36576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30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8229600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566928" cy="1170432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457200" y="1051560"/>
            <a:ext cx="56692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33856" y="1106424"/>
            <a:ext cx="7461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9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假藥氾濫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133856" y="1399032"/>
            <a:ext cx="746150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WHO：低中收入國家 1/10 藥品為假冒品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UNODC：每年 26.7 萬人死於假冒抗瘧疾藥物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404872"/>
            <a:ext cx="8229600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457200" y="2404872"/>
            <a:ext cx="566928" cy="1170432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457200" y="2404872"/>
            <a:ext cx="56692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33856" y="2459736"/>
            <a:ext cx="7461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6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供應鏈不透明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133856" y="2752344"/>
            <a:ext cx="746150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各方資訊孤立於私有系統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冷鏈溫控記錄無法即時稽核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758184"/>
            <a:ext cx="8229600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457200" y="3758184"/>
            <a:ext cx="566928" cy="1170432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457200" y="3758184"/>
            <a:ext cx="56692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33856" y="3813048"/>
            <a:ext cx="7461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9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召回耗時費力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133856" y="4105656"/>
            <a:ext cx="746150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平均響應需數日至數週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 美國嬰兒配方奶粉事件暴露嚴重盲點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457200" y="1920240"/>
            <a:ext cx="8686800" cy="4572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685800" y="7772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 03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1188720"/>
            <a:ext cx="8046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區塊鏈解決方案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85800" y="22860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技術架構 · 病歷管理 · 藥品溯源 · 智能合約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30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68580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為何選擇區塊鏈？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85800" y="914400"/>
            <a:ext cx="8229600" cy="1143000"/>
          </a:xfrm>
          <a:prstGeom prst="rect">
            <a:avLst/>
          </a:prstGeom>
          <a:solidFill>
            <a:srgbClr val="122840"/>
          </a:solidFill>
          <a:ln w="9525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804672" y="914400"/>
            <a:ext cx="640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4A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554480" y="1024128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不可竄改性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54480" y="148132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9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Immutability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303520" y="1005840"/>
            <a:ext cx="3474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所有寫入操作形成不可回溯的時間戳鏈，杜絕病歷造假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85800" y="2240280"/>
            <a:ext cx="8229600" cy="1143000"/>
          </a:xfrm>
          <a:prstGeom prst="rect">
            <a:avLst/>
          </a:prstGeom>
          <a:solidFill>
            <a:srgbClr val="122840"/>
          </a:solidFill>
          <a:ln w="9525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804672" y="2240280"/>
            <a:ext cx="640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4A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554480" y="2350008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去中心化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554480" y="280720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9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Decentralization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303520" y="2331720"/>
            <a:ext cx="3474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無單點伺服器，多節點冗餘，消除高價值攻擊目標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85800" y="3566160"/>
            <a:ext cx="8229600" cy="1143000"/>
          </a:xfrm>
          <a:prstGeom prst="rect">
            <a:avLst/>
          </a:prstGeom>
          <a:solidFill>
            <a:srgbClr val="122840"/>
          </a:solidFill>
          <a:ln w="9525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804672" y="3566160"/>
            <a:ext cx="640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4A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554480" y="3675888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智能合約自動化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554480" y="413308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9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Contract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303520" y="3657600"/>
            <a:ext cx="3474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業務邏輯程式化，存取授權、藥品溯源自動執行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30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核心架構：Hyperledger Fabric 聯盟鏈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77824"/>
            <a:ext cx="8229600" cy="36576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30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2633472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2633472" cy="411480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457200" y="1051560"/>
            <a:ext cx="2633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許可制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66928" y="1527048"/>
            <a:ext cx="2414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許可制節點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66928" y="1984248"/>
            <a:ext cx="2414016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僅授權醫療機構、製藥廠、監管單位加入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兼顧開放性與隱私管控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255264" y="1051560"/>
            <a:ext cx="2633472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3255264" y="1051560"/>
            <a:ext cx="2633472" cy="411480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3255264" y="1051560"/>
            <a:ext cx="2633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共識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364992" y="1527048"/>
            <a:ext cx="2414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高效共識機制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64992" y="1984248"/>
            <a:ext cx="2414016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PBFT 或 Raft 演算法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相較公鏈大幅提升交易吞吐量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053328" y="1051560"/>
            <a:ext cx="2633472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6053328" y="1051560"/>
            <a:ext cx="2633472" cy="411480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6053328" y="1051560"/>
            <a:ext cx="2633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隱私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163056" y="1527048"/>
            <a:ext cx="2414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隱私保護技術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163056" y="1984248"/>
            <a:ext cx="2414016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零知識證明（ZKP）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同態加密 / 私有 Channel 機制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57200" y="4617720"/>
            <a:ext cx="8229600" cy="384048"/>
          </a:xfrm>
          <a:prstGeom prst="rect">
            <a:avLst/>
          </a:prstGeom>
          <a:solidFill>
            <a:srgbClr val="D0F4EE"/>
          </a:solidFill>
          <a:ln w="9525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Text 20"/>
          <p:cNvSpPr/>
          <p:nvPr/>
        </p:nvSpPr>
        <p:spPr>
          <a:xfrm>
            <a:off x="566928" y="4617720"/>
            <a:ext cx="8010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Hyperledger Fabric v3.1.4（2026-02-23） · BFT 排序服務首個 GA 版 v3.0（2024-09-16）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病歷管理：區塊鏈解決方案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77824"/>
            <a:ext cx="8229600" cy="36576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30</a:t>
            </a:r>
            <a:endParaRPr lang="en-US" sz="9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3401568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問題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解決方案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關鍵技術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資料孤島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分散式帳本跨院共享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Hyperledger Fabric Channel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資安漏洞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無中心伺服器，多節點冗餘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Al-Khasawneh et al. 五元件框架 [4]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資料竄改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不可竄改時間戳鏈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Ettaloui 系統性綜述確認 [5]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授權控制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ABE 細粒度存取 + 鏈上日誌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EHRChain, Nature 2025 [6]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隱私洩露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IPFS 存原始資料，鏈上僅存雜湊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IPFS + ABE 混合架構 [6]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藥品供應鏈：端對端可信溯源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77824"/>
            <a:ext cx="8229600" cy="36576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30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02336" y="1545336"/>
            <a:ext cx="1389888" cy="749808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402336" y="1545336"/>
            <a:ext cx="13898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原料藥廠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02336" y="2350008"/>
            <a:ext cx="13898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mintDrug()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792224" y="1737360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9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139696" y="1545336"/>
            <a:ext cx="1389888" cy="749808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2139696" y="1545336"/>
            <a:ext cx="13898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製藥廠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139696" y="2350008"/>
            <a:ext cx="13898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批號上鏈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529584" y="1737360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9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3877056" y="1545336"/>
            <a:ext cx="1389888" cy="749808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3877056" y="1545336"/>
            <a:ext cx="13898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批發商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877056" y="2350008"/>
            <a:ext cx="13898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transferDrug()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冷鏈溫控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266944" y="1737360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9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614416" y="1545336"/>
            <a:ext cx="1389888" cy="749808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/>
          <p:nvPr/>
        </p:nvSpPr>
        <p:spPr>
          <a:xfrm>
            <a:off x="5614416" y="1545336"/>
            <a:ext cx="13898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藥局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614416" y="2350008"/>
            <a:ext cx="13898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verifyDrug()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驗真偽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004304" y="1737360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9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7351776" y="1545336"/>
            <a:ext cx="1389888" cy="749808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3" name="Text 21"/>
          <p:cNvSpPr/>
          <p:nvPr/>
        </p:nvSpPr>
        <p:spPr>
          <a:xfrm>
            <a:off x="7351776" y="1545336"/>
            <a:ext cx="13898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患者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351776" y="2350008"/>
            <a:ext cx="13898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完整溯源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即時查詢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3246120"/>
            <a:ext cx="8229600" cy="1664208"/>
          </a:xfrm>
          <a:prstGeom prst="rect">
            <a:avLst/>
          </a:prstGeom>
          <a:solidFill>
            <a:srgbClr val="D0F4EE"/>
          </a:solidFill>
          <a:ln w="9525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Text 24"/>
          <p:cNvSpPr/>
          <p:nvPr/>
        </p:nvSpPr>
        <p:spPr>
          <a:xfrm>
            <a:off x="594360" y="3310128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學術驗證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94360" y="3657600"/>
            <a:ext cx="79552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PharmChain（Decision Analytics Journal, 2025）：場景導向框架，Ethereum + Remix 驗證 [7]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Searchable PharmaChain（Cluster Computing, 2024）：可搜尋加密設計，保護供應鏈隱私 [9]</a:t>
            </a:r>
            <a:endParaRPr lang="en-US" sz="14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實作：兩份智能合約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77824"/>
            <a:ext cx="8229600" cy="36576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30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406908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4069080" cy="420624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548640" y="1051560"/>
            <a:ext cx="3886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MedicalRecordAccess.sol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66928" y="1545336"/>
            <a:ext cx="384048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患者登記 IPFS CID，醫師申請授權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授權時長設定、隨時撤銷、鏈上稽核日誌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09160" y="1051560"/>
            <a:ext cx="406908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4709160" y="1051560"/>
            <a:ext cx="4069080" cy="420624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4800600" y="1051560"/>
            <a:ext cx="3886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DrugTraceability.sol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818888" y="1545336"/>
            <a:ext cx="384048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五角色 + simulationMode 支援單錢包展示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mintDrug / transferDrug / recallDrug / verifyDrug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017520"/>
            <a:ext cx="406908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457200" y="3017520"/>
            <a:ext cx="4069080" cy="420624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548640" y="3017520"/>
            <a:ext cx="3886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66928" y="3511296"/>
            <a:ext cx="384048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709160" y="3017520"/>
            <a:ext cx="406908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9" name="Shape 17"/>
          <p:cNvSpPr/>
          <p:nvPr/>
        </p:nvSpPr>
        <p:spPr>
          <a:xfrm>
            <a:off x="4709160" y="3017520"/>
            <a:ext cx="4069080" cy="420624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8"/>
          <p:cNvSpPr/>
          <p:nvPr/>
        </p:nvSpPr>
        <p:spPr>
          <a:xfrm>
            <a:off x="4800600" y="3017520"/>
            <a:ext cx="3886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818888" y="3511296"/>
            <a:ext cx="384048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457200" y="1920240"/>
            <a:ext cx="8686800" cy="4572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685800" y="7772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 04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1188720"/>
            <a:ext cx="8046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技術實作 PoC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85800" y="22860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Remix IDE · Solidity · MetaMask · Sepolia Testnet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30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技術環境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77824"/>
            <a:ext cx="8229600" cy="36576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30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82296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64008" cy="685800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640080" y="1179576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Remix IDE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749040" y="1179576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Solidity 智能合約開發、編譯與一鍵部署環境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57200" y="1847088"/>
            <a:ext cx="82296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457200" y="1847088"/>
            <a:ext cx="64008" cy="685800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640080" y="1975104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Solidity ^0.8.0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749040" y="1975104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智能合約撰寫語言，EVM 相容，兩份合約均以此實作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57200" y="2642616"/>
            <a:ext cx="82296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457200" y="2642616"/>
            <a:ext cx="64008" cy="685800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640080" y="277063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MetaMask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749040" y="277063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瀏覽器錢包，簽署交易；accountsChanged 事件驅動前端角色自動切換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457200" y="3438144"/>
            <a:ext cx="82296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9" name="Shape 17"/>
          <p:cNvSpPr/>
          <p:nvPr/>
        </p:nvSpPr>
        <p:spPr>
          <a:xfrm>
            <a:off x="457200" y="3438144"/>
            <a:ext cx="64008" cy="685800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8"/>
          <p:cNvSpPr/>
          <p:nvPr/>
        </p:nvSpPr>
        <p:spPr>
          <a:xfrm>
            <a:off x="640080" y="35661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Sepolia Testnet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749040" y="35661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Ethereum 公開測試網路，合約部署與功能驗證目標鏈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457200" y="4233672"/>
            <a:ext cx="82296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3" name="Shape 21"/>
          <p:cNvSpPr/>
          <p:nvPr/>
        </p:nvSpPr>
        <p:spPr>
          <a:xfrm>
            <a:off x="457200" y="4233672"/>
            <a:ext cx="64008" cy="6858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Text 22"/>
          <p:cNvSpPr/>
          <p:nvPr/>
        </p:nvSpPr>
        <p:spPr>
          <a:xfrm>
            <a:off x="640080" y="436168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ethers.js v5.7.2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749040" y="436168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 Web3 函式庫，驅動合約呼叫、事件監聽與角色偵測</a:t>
            </a:r>
            <a:endParaRPr lang="en-US" sz="13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合約一：MedicalRecordAccess.sol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77824"/>
            <a:ext cx="8229600" cy="36576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30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3931920" cy="3886200"/>
          </a:xfrm>
          <a:prstGeom prst="rect">
            <a:avLst/>
          </a:prstGeom>
          <a:solidFill>
            <a:srgbClr val="0B1E35"/>
          </a:solidFill>
          <a:ln w="12700">
            <a:solidFill>
              <a:srgbClr val="0B1E35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594360" y="107899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設計概念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508760"/>
            <a:ext cx="3657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患者 = 病歷擁有者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透過私鑰簽名登記 patientId 與加密 IPFS CID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醫師申請授權 → 患者批准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有效期內可讀取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每次存取 → 鏈上稽核日誌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0" y="1005840"/>
            <a:ext cx="4297680" cy="3886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4572000" y="1005840"/>
            <a:ext cx="4297680" cy="384048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4681728" y="100584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核心函式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81728" y="15087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60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registerRecord()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629400" y="1545336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登記 patientId + IPFS CID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681728" y="2185416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60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requestAccess()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629400" y="2221992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申請授權，觸發鏈上事件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81728" y="286207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60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grantAccess()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629400" y="2898648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批准並設定授權時長（秒）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681728" y="353872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60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revokeAccess()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629400" y="3575304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撤銷 patientId + doctor 授權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681728" y="4215384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60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getRecord()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629400" y="425196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讀取 CID，自動寫稽核日誌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合約二：DrugTraceability.sol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77824"/>
            <a:ext cx="8229600" cy="36576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30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3931920" cy="3886200"/>
          </a:xfrm>
          <a:prstGeom prst="rect">
            <a:avLst/>
          </a:prstGeom>
          <a:solidFill>
            <a:srgbClr val="0B1E35"/>
          </a:solidFill>
          <a:ln w="12700">
            <a:solidFill>
              <a:srgbClr val="0B1E35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594360" y="107899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設計概念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508760"/>
            <a:ext cx="3657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製藥廠出廠 → mintDrug()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回傳 bytes32 batchId 雜湊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simulationMode=true（合約層預設，無 UI 開關）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每次移轉 → transferDrug()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更新持有人與 BatchStatus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患者掃 QR Code → verifyDrug()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任何人可驗真偽，回傳 bool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0" y="1005840"/>
            <a:ext cx="4297680" cy="3886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4572000" y="1005840"/>
            <a:ext cx="4297680" cy="384048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4681728" y="100584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核心函式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81728" y="150876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9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mintDrug()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58000" y="1545336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鑄造批次，回傳 bytes32 batchId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681728" y="2185416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9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transferDrug()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858000" y="2221992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轉移持有人，自動更新狀態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81728" y="2862072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9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updateTemperature()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858000" y="2898648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celsius×100 整數，避免浮點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681728" y="3538728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9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verifyDrug()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58000" y="3575304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批次存在且未召回回傳 true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681728" y="4215384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9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recallDrug()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858000" y="4251960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 角色，即時廣播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1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</a:ln>
        </p:spPr>
        <p:txBody>
          <a:bodyPr/>
          <a:lstStyle/>
          <a:p/>
        </p:txBody>
      </p:sp>
      <p:sp>
        <p:nvSpPr>
          <p:cNvPr id="3" name="LeftBar"/>
          <p:cNvSpPr/>
          <p:nvPr/>
        </p:nvSpPr>
        <p:spPr>
          <a:xfrm>
            <a:off x="0" y="64008"/>
            <a:ext cx="54000" cy="5079492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</a:ln>
        </p:spPr>
        <p:txBody>
          <a:bodyPr/>
          <a:lstStyle/>
          <a:p/>
        </p:txBody>
      </p:sp>
      <p:sp>
        <p:nvSpPr>
          <p:cNvPr id="4" name="Title"/>
          <p:cNvSpPr/>
          <p:nvPr/>
        </p:nvSpPr>
        <p:spPr>
          <a:xfrm>
            <a:off x="180000" y="120000"/>
            <a:ext cx="8800000" cy="500000"/>
          </a:xfrm>
          <a:prstGeom prst="rect">
            <a:avLst/>
          </a:prstGeom>
          <a:noFill/>
        </p:spPr>
        <p:txBody>
          <a:bodyPr anchor="ctr"/>
          <a:lstStyle/>
          <a:p>
            <a:pPr algn="l"/>
            <a:r>
              <a:rPr lang="zh-TW" sz="3600" b="1" dirty="0">
                <a:solidFill>
                  <a:srgbClr val="009E8C"/>
                </a:solidFill>
                <a:latin typeface="Calibri"/>
                <a:ea typeface="Calibri"/>
              </a:rPr>
              <a:t>PoC Demo</a:t>
            </a:r>
            <a:r>
              <a:rPr lang="zh-TW" sz="3600" b="1" dirty="0">
                <a:solidFill>
                  <a:srgbClr val="FFFFFF"/>
                </a:solidFill>
                <a:latin typeface="Calibri"/>
                <a:ea typeface="Calibri"/>
              </a:rPr>
              <a:t xml:space="preserve">  影片示範</a:t>
            </a:r>
          </a:p>
        </p:txBody>
      </p:sp>
      <p:sp>
        <p:nvSpPr>
          <p:cNvPr id="5" name="Card1"/>
          <p:cNvSpPr/>
          <p:nvPr/>
        </p:nvSpPr>
        <p:spPr>
          <a:xfrm>
            <a:off x="180000" y="720000"/>
            <a:ext cx="4200000" cy="3900000"/>
          </a:xfrm>
          <a:prstGeom prst="rect">
            <a:avLst/>
          </a:prstGeom>
          <a:solidFill>
            <a:srgbClr val="132840"/>
          </a:solidFill>
          <a:ln w="19050">
            <a:solidFill>
              <a:srgbClr val="009E8C"/>
            </a:solidFill>
          </a:ln>
        </p:spPr>
        <p:txBody>
          <a:bodyPr lIns="180000" rIns="180000" tIns="180000" bIns="180000" anchor="t"/>
          <a:lstStyle/>
          <a:p>
            <a:pPr algn="l" spcBef="0"/>
            <a:r>
              <a:rPr lang="zh-TW" sz="2000" b="1" dirty="0">
                <a:solidFill>
                  <a:srgbClr val="009E8C"/>
                </a:solidFill>
                <a:latin typeface="Calibri"/>
                <a:ea typeface="Calibri"/>
              </a:rPr>
              <a:t>💊  DrugTraceability</a:t>
            </a:r>
          </a:p>
          <a:p>
            <a:pPr algn="l" spcBef="120000"/>
            <a:r>
              <a:rPr lang="zh-TW" sz="1400" dirty="0">
                <a:solidFill>
                  <a:srgbClr val="8892A4"/>
                </a:solidFill>
                <a:latin typeface="Calibri"/>
                <a:ea typeface="Calibri"/>
              </a:rPr>
              <a:t>藥品供應鏈溯源系統</a:t>
            </a:r>
          </a:p>
          <a:p>
            <a:pPr algn="l" spcBef="360000"/>
            <a:r>
              <a:rPr lang="zh-TW" sz="1400" dirty="0">
                <a:solidFill>
                  <a:srgbClr val="8892A4"/>
                </a:solidFill>
                <a:latin typeface="Calibri"/>
                <a:ea typeface="Calibri"/>
              </a:rPr>
              <a:t>Demo 連結：</a:t>
            </a:r>
          </a:p>
          <a:p>
            <a:pPr algn="l" spcBef="60000"/>
            <a:r>
              <a:rPr lang="en-US" sz="1300" dirty="0" u="sng">
                <a:solidFill>
                  <a:srgbClr val="4F7CFF"/>
                </a:solidFill>
                <a:latin typeface="Calibri"/>
                <a:hlinkClick r:id="rId2"/>
              </a:rPr>
              <a:t>https://youtu.be/r9GPeQ4MA68</a:t>
            </a:r>
          </a:p>
        </p:txBody>
      </p:sp>
      <p:sp>
        <p:nvSpPr>
          <p:cNvPr id="6" name="Card2"/>
          <p:cNvSpPr/>
          <p:nvPr/>
        </p:nvSpPr>
        <p:spPr>
          <a:xfrm>
            <a:off x="4764000" y="720000"/>
            <a:ext cx="4200000" cy="3900000"/>
          </a:xfrm>
          <a:prstGeom prst="rect">
            <a:avLst/>
          </a:prstGeom>
          <a:solidFill>
            <a:srgbClr val="132840"/>
          </a:solidFill>
          <a:ln w="19050">
            <a:solidFill>
              <a:srgbClr val="009E8C"/>
            </a:solidFill>
          </a:ln>
        </p:spPr>
        <p:txBody>
          <a:bodyPr lIns="180000" rIns="180000" tIns="180000" bIns="180000" anchor="t"/>
          <a:lstStyle/>
          <a:p>
            <a:pPr algn="l" spcBef="0"/>
            <a:r>
              <a:rPr lang="zh-TW" sz="2000" b="1" dirty="0">
                <a:solidFill>
                  <a:srgbClr val="009E8C"/>
                </a:solidFill>
                <a:latin typeface="Calibri"/>
                <a:ea typeface="Calibri"/>
              </a:rPr>
              <a:t>🏥  MedicalRecordAccess</a:t>
            </a:r>
          </a:p>
          <a:p>
            <a:pPr algn="l" spcBef="120000"/>
            <a:r>
              <a:rPr lang="zh-TW" sz="1400" dirty="0">
                <a:solidFill>
                  <a:srgbClr val="8892A4"/>
                </a:solidFill>
                <a:latin typeface="Calibri"/>
                <a:ea typeface="Calibri"/>
              </a:rPr>
              <a:t>電子病歷存取控制系統</a:t>
            </a:r>
          </a:p>
          <a:p>
            <a:pPr algn="l" spcBef="360000"/>
            <a:r>
              <a:rPr lang="zh-TW" sz="1400" dirty="0">
                <a:solidFill>
                  <a:srgbClr val="8892A4"/>
                </a:solidFill>
                <a:latin typeface="Calibri"/>
                <a:ea typeface="Calibri"/>
              </a:rPr>
              <a:t>Demo 連結：</a:t>
            </a:r>
          </a:p>
          <a:p>
            <a:pPr algn="l" spcBef="60000"/>
            <a:r>
              <a:rPr lang="en-US" sz="1300" dirty="0" u="sng">
                <a:solidFill>
                  <a:srgbClr val="4F7CFF"/>
                </a:solidFill>
                <a:latin typeface="Calibri"/>
                <a:hlinkClick r:id="rId3"/>
              </a:rPr>
              <a:t>https://youtu.be/AFJQzRuUZfQ</a:t>
            </a:r>
          </a:p>
        </p:txBody>
      </p:sp>
      <p:sp>
        <p:nvSpPr>
          <p:cNvPr id="7" name="PageNum"/>
          <p:cNvSpPr/>
          <p:nvPr/>
        </p:nvSpPr>
        <p:spPr>
          <a:xfrm>
            <a:off x="7500000" y="4900000"/>
            <a:ext cx="1500000" cy="200000"/>
          </a:xfrm>
          <a:prstGeom prst="rect">
            <a:avLst/>
          </a:prstGeom>
          <a:noFill/>
        </p:spPr>
        <p:txBody>
          <a:bodyPr anchor="ctr"/>
          <a:lstStyle/>
          <a:p>
            <a:pPr algn="r"/>
            <a:r>
              <a:rPr lang="en-US" sz="1000" dirty="0">
                <a:solidFill>
                  <a:srgbClr val="8892A4"/>
                </a:solidFill>
                <a:latin typeface="Calibri"/>
              </a:rPr>
              <a:t>24 / 30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展示場景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77824"/>
            <a:ext cx="8229600" cy="36576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30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24128"/>
            <a:ext cx="822960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457200" y="1024128"/>
            <a:ext cx="914400" cy="1188720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457200" y="1024128"/>
            <a:ext cx="914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場景 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508760" y="1115568"/>
            <a:ext cx="7040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6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跨院即時授權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508760" y="1481328"/>
            <a:ext cx="7040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患者授權台大醫院急診醫師查閱過敏史及慢性病用藥紀錄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醫師即時獲取，完成診療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授權日誌永久記錄於鏈上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2395728"/>
            <a:ext cx="822960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457200" y="2395728"/>
            <a:ext cx="914400" cy="1188720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457200" y="2395728"/>
            <a:ext cx="914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場景 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508760" y="2487168"/>
            <a:ext cx="7040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9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冷鏈異常攔截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508760" y="2852928"/>
            <a:ext cx="7040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批發商掃描胰島素批次 QR Code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鏈上記錄顯示冷鏈運輸期間溫度異常（IoT 預言機寫入）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當場拒絕收貨，觸發品質告警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" y="3767328"/>
            <a:ext cx="822960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457200" y="3767328"/>
            <a:ext cx="914400" cy="1188720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457200" y="3767328"/>
            <a:ext cx="914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場景 03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508760" y="3858768"/>
            <a:ext cx="7040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6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分鐘全台召回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508760" y="4224528"/>
            <a:ext cx="7040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TFDA 發現某批號止痛藥含量不合規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呼叫 recallDrug()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所有持有該批次節點立即收到鏈上通知</a:t>
            </a:r>
            <a:endParaRPr lang="en-US" sz="12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B1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457200" y="1920240"/>
            <a:ext cx="8686800" cy="4572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685800" y="7772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 05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1188720"/>
            <a:ext cx="8046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機遇與挑戰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85800" y="22860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政策驅動 · IoT 融合 · 法規衝突 · 人因障礙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30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四大發展機遇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77824"/>
            <a:ext cx="8229600" cy="36576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30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2633472" cy="333756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2633472" cy="411480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457200" y="1051560"/>
            <a:ext cx="2633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政策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66928" y="1527048"/>
            <a:ext cx="2414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政策驅動轉型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66928" y="1984248"/>
            <a:ext cx="2414016" cy="2313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台灣 HWDC 開放健保資料庫研究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COVID-19 後各國數位健康投資大幅增加 [12]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255264" y="1051560"/>
            <a:ext cx="2633472" cy="333756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3255264" y="1051560"/>
            <a:ext cx="2633472" cy="411480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3255264" y="1051560"/>
            <a:ext cx="2633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364992" y="1527048"/>
            <a:ext cx="2414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 技術移植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64992" y="1984248"/>
            <a:ext cx="2414016" cy="2313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智能合約設計模式可移植至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醫療保險自動理賠場景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053328" y="1051560"/>
            <a:ext cx="2633472" cy="333756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6053328" y="1051560"/>
            <a:ext cx="2633472" cy="411480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6053328" y="1051560"/>
            <a:ext cx="2633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163056" y="1527048"/>
            <a:ext cx="2414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+ AI 協同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163056" y="1984248"/>
            <a:ext cx="2414016" cy="2313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穿戴裝置即時上鏈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分析形成個人化預防醫療方案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57200" y="4590288"/>
            <a:ext cx="8229600" cy="411480"/>
          </a:xfrm>
          <a:prstGeom prst="rect">
            <a:avLst/>
          </a:prstGeom>
          <a:solidFill>
            <a:srgbClr val="E8F1FB"/>
          </a:solidFill>
          <a:ln w="9525">
            <a:solidFill>
              <a:srgbClr val="1460A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Text 20"/>
          <p:cNvSpPr/>
          <p:nvPr/>
        </p:nvSpPr>
        <p:spPr>
          <a:xfrm>
            <a:off x="594360" y="4590288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46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學術動能：Nature / Wiley / Springer 2024–2025 年密集發表 EHR 與藥品供應鏈區塊鏈實證研究 [5][7][8][9]</a:t>
            </a:r>
            <a:endParaRPr lang="en-US" sz="11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五大落地挑戰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77824"/>
            <a:ext cx="8229600" cy="36576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30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24128"/>
            <a:ext cx="8229600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457200" y="1024128"/>
            <a:ext cx="566928" cy="69494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457200" y="1024128"/>
            <a:ext cx="56692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33856" y="1078992"/>
            <a:ext cx="7461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法規遵循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133856" y="1371600"/>
            <a:ext cx="7461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不可刪除性 vs. GDPR 被遺忘權，根本衝突尚待立法解方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1828800"/>
            <a:ext cx="8229600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457200" y="1828800"/>
            <a:ext cx="566928" cy="694944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457200" y="1828800"/>
            <a:ext cx="56692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33856" y="1883664"/>
            <a:ext cx="7461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6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技術整合困難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133856" y="2176272"/>
            <a:ext cx="7461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現有 HIS 多為數十年前架構；HL7 FHIR 整合規範仍在制訂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633472"/>
            <a:ext cx="8229600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457200" y="2633472"/>
            <a:ext cx="566928" cy="69494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457200" y="2633472"/>
            <a:ext cx="56692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33856" y="2688336"/>
            <a:ext cx="7461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擴展性瓶頸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133856" y="2980944"/>
            <a:ext cx="7461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醫療影像、基因資料 GB~TB，全部上鏈成本難以承受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438144"/>
            <a:ext cx="8229600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2" name="Shape 20"/>
          <p:cNvSpPr/>
          <p:nvPr/>
        </p:nvSpPr>
        <p:spPr>
          <a:xfrm>
            <a:off x="457200" y="3438144"/>
            <a:ext cx="566928" cy="694944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Text 21"/>
          <p:cNvSpPr/>
          <p:nvPr/>
        </p:nvSpPr>
        <p:spPr>
          <a:xfrm>
            <a:off x="457200" y="3438144"/>
            <a:ext cx="56692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133856" y="3493008"/>
            <a:ext cx="7461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6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從業者接受度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133856" y="3785616"/>
            <a:ext cx="7461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員工抗拒（P17）與對效益認知不足（P14）為關鍵人因障礙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4242816"/>
            <a:ext cx="8229600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7" name="Shape 25"/>
          <p:cNvSpPr/>
          <p:nvPr/>
        </p:nvSpPr>
        <p:spPr>
          <a:xfrm>
            <a:off x="457200" y="4242816"/>
            <a:ext cx="566928" cy="694944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" name="Text 26"/>
          <p:cNvSpPr/>
          <p:nvPr/>
        </p:nvSpPr>
        <p:spPr>
          <a:xfrm>
            <a:off x="457200" y="4242816"/>
            <a:ext cx="56692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133856" y="4297680"/>
            <a:ext cx="7461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9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數位落差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1133856" y="4590288"/>
            <a:ext cx="7461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偏鄉機構資訊化不足，弱勢族群可能無法享有相關服務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B1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457200" y="1920240"/>
            <a:ext cx="8686800" cy="4572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685800" y="7772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 06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1188720"/>
            <a:ext cx="8046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結論與展望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85800" y="22860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分階段導入 · 技術融合 · 未來展望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/ 30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研究結論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77824"/>
            <a:ext cx="8229600" cy="36576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/ 30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822960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1143000" cy="1188720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457200" y="1051560"/>
            <a:ext cx="1143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1563624"/>
            <a:ext cx="1143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高度契合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691640" y="132588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不可竄改、去中心化、智能合約三大特性與醫療資料管理核心需求高度契合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2423160"/>
            <a:ext cx="822960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457200" y="2423160"/>
            <a:ext cx="1143000" cy="1188720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457200" y="2423160"/>
            <a:ext cx="1143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57200" y="2935224"/>
            <a:ext cx="1143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非萬能解藥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691640" y="269748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法規衝突、整合成本、擴展瓶頸、人才短缺是落地必須正視的挑戰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57200" y="3794760"/>
            <a:ext cx="822960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457200" y="3794760"/>
            <a:ext cx="1143000" cy="1188720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457200" y="3794760"/>
            <a:ext cx="1143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57200" y="4306824"/>
            <a:ext cx="1143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分階段導入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691640" y="406908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先聯盟鏈試點單一高價值場景（跨院轉診或藥品溯源），積累案例後逐步擴展</a:t>
            </a:r>
            <a:endParaRPr lang="en-US" sz="15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B1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457200" y="0"/>
            <a:ext cx="8686800" cy="9144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6858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未來展望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85800" y="1051560"/>
            <a:ext cx="8229600" cy="987552"/>
          </a:xfrm>
          <a:prstGeom prst="rect">
            <a:avLst/>
          </a:prstGeom>
          <a:solidFill>
            <a:srgbClr val="0F2538"/>
          </a:solidFill>
          <a:ln w="9525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868680" y="1106424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 擴展方案成熟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15087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大幅降低鏈上交易成本與延遲，突破效能瓶頸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5800" y="2194560"/>
            <a:ext cx="8229600" cy="987552"/>
          </a:xfrm>
          <a:prstGeom prst="rect">
            <a:avLst/>
          </a:prstGeom>
          <a:solidFill>
            <a:srgbClr val="0F2538"/>
          </a:solidFill>
          <a:ln w="9525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868680" y="2249424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零知識證明（ZKP）廣泛應用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68680" y="26517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解決隱私權 vs. 不可刪除性的根本衝突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85800" y="3337560"/>
            <a:ext cx="8229600" cy="987552"/>
          </a:xfrm>
          <a:prstGeom prst="rect">
            <a:avLst/>
          </a:prstGeom>
          <a:solidFill>
            <a:srgbClr val="0F2538"/>
          </a:solidFill>
          <a:ln w="9525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868680" y="3392424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醫療 AI × 區塊鏈深度融合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68680" y="37947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個人化精準醫療 + 可信資料治理，建立全球健康資料基礎設施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85800" y="44348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感謝聆聽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85800" y="4773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筆引用 · 四輪文獻驗證 · Blockchain Healthcare Research 2025–2026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/ 30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955</TotalTime>
  <Words>966</Words>
  <Application>Microsoft Office PowerPoint</Application>
  <PresentationFormat>如螢幕大小 (16:9)</PresentationFormat>
  <Paragraphs>367</Paragraphs>
  <Slides>31</Slides>
  <Notes>30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31</vt:i4>
      </vt:variant>
    </vt:vector>
  </HeadingPairs>
  <TitlesOfParts>
    <vt:vector size="35" baseType="lpstr">
      <vt:lpstr>Arial</vt:lpstr>
      <vt:lpstr>Calibri</vt:lpstr>
      <vt:lpstr>Courier New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區塊鏈於醫療健康資料管理之創新應用研究</dc:title>
  <dc:subject>PptxGenJS Presentation</dc:subject>
  <dc:creator>Blockchain Healthcare Research</dc:creator>
  <cp:lastModifiedBy>温家昇</cp:lastModifiedBy>
  <cp:revision>2</cp:revision>
  <dcterms:created xsi:type="dcterms:W3CDTF">2026-05-22T14:45:02Z</dcterms:created>
  <dcterms:modified xsi:type="dcterms:W3CDTF">2026-05-23T08:03:44Z</dcterms:modified>
</cp:coreProperties>
</file>