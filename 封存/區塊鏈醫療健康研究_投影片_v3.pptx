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?>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86" r:id="rId25"/>
    <p:sldId id="279" r:id="rId26"/>
    <p:sldId id="280" r:id="rId27"/>
    <p:sldId id="281" r:id="rId28"/>
    <p:sldId id="282" r:id="rId29"/>
    <p:sldId id="283" r:id="rId30"/>
    <p:sldId id="284" r:id="rId31"/>
    <p:sldId id="285" r:id="rId32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46" d="100"/>
          <a:sy n="146" d="100"/>
        </p:scale>
        <p:origin x="594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?>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9863505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?>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?>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?>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?>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?>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?>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?>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?>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?>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?>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?>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?>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?>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?>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?>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?>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?>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?>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?>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?>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?>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?>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?>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?>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5.xml.rels><?xml version="1.0" encoding="UTF-8"?>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6.xml.rels><?xml version="1.0" encoding="UTF-8"?>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7.xml.rels><?xml version="1.0" encoding="UTF-8"?>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8.xml.rels><?xml version="1.0" encoding="UTF-8"?>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9.xml.rels><?xml version="1.0" encoding="UTF-8"?>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0.xml.rels><?xml version="1.0" encoding="UTF-8"?>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?>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?>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?>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?>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?>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?>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?>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?>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?>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?>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?>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?>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?>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?>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?>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?>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?>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?>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?>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?>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?>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?>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5.xml.rels><?xml version="1.0" encoding="UTF-8"?>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6.xml.rels><?xml version="1.0" encoding="UTF-8"?>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7.xml.rels><?xml version="1.0" encoding="UTF-8"?>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8.xml.rels><?xml version="1.0" encoding="UTF-8"?>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29.xml.rels><?xml version="1.0" encoding="UTF-8"?>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_rels/slide30.xml.rels><?xml version="1.0" encoding="UTF-8"?>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/Relationships>
</file>

<file path=ppt/slides/_rels/slide31.xml.rels><?xml version="1.0" encoding="UTF-8"?>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E3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57200" cy="5143500"/>
          </a:xfrm>
          <a:prstGeom prst="rect">
            <a:avLst/>
          </a:prstGeom>
          <a:solidFill>
            <a:srgbClr val="009E8C"/>
          </a:solidFill>
          <a:ln w="12700">
            <a:solidFill>
              <a:srgbClr val="009E8C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" name="Shape 1"/>
          <p:cNvSpPr/>
          <p:nvPr/>
        </p:nvSpPr>
        <p:spPr>
          <a:xfrm>
            <a:off x="0" y="4023360"/>
            <a:ext cx="9144000" cy="1120140"/>
          </a:xfrm>
          <a:prstGeom prst="rect">
            <a:avLst/>
          </a:prstGeom>
          <a:solidFill>
            <a:srgbClr val="07111F"/>
          </a:solidFill>
          <a:ln w="12700">
            <a:solidFill>
              <a:srgbClr val="07111F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4" name="Shape 2"/>
          <p:cNvSpPr/>
          <p:nvPr/>
        </p:nvSpPr>
        <p:spPr>
          <a:xfrm>
            <a:off x="457200" y="2057400"/>
            <a:ext cx="8686800" cy="45720"/>
          </a:xfrm>
          <a:prstGeom prst="rect">
            <a:avLst/>
          </a:prstGeom>
          <a:solidFill>
            <a:srgbClr val="00C9B1"/>
          </a:solidFill>
          <a:ln w="12700">
            <a:solidFill>
              <a:srgbClr val="00C9B1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5" name="Text 3"/>
          <p:cNvSpPr/>
          <p:nvPr/>
        </p:nvSpPr>
        <p:spPr>
          <a:xfrm>
            <a:off x="685800" y="41148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區塊鏈於醫療健康資料管理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685800" y="118872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之創新應用研究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685800" y="2212848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00C9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區塊鏈 × 醫療健康 — 病歷 / 藥品供應鏈的不可竄改紀錄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685800" y="2852928"/>
            <a:ext cx="1938528" cy="384048"/>
          </a:xfrm>
          <a:prstGeom prst="rect">
            <a:avLst/>
          </a:prstGeom>
          <a:solidFill>
            <a:srgbClr val="1460AA"/>
          </a:solidFill>
          <a:ln w="9525">
            <a:solidFill>
              <a:srgbClr val="00C9B1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9" name="Text 7"/>
          <p:cNvSpPr/>
          <p:nvPr/>
        </p:nvSpPr>
        <p:spPr>
          <a:xfrm>
            <a:off x="685800" y="2852928"/>
            <a:ext cx="19385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Hyperledger Fabric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770632" y="2852928"/>
            <a:ext cx="1938528" cy="384048"/>
          </a:xfrm>
          <a:prstGeom prst="rect">
            <a:avLst/>
          </a:prstGeom>
          <a:solidFill>
            <a:srgbClr val="1460AA"/>
          </a:solidFill>
          <a:ln w="9525">
            <a:solidFill>
              <a:srgbClr val="00C9B1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1" name="Text 9"/>
          <p:cNvSpPr/>
          <p:nvPr/>
        </p:nvSpPr>
        <p:spPr>
          <a:xfrm>
            <a:off x="2770632" y="2852928"/>
            <a:ext cx="19385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Contract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855464" y="2852928"/>
            <a:ext cx="1938528" cy="384048"/>
          </a:xfrm>
          <a:prstGeom prst="rect">
            <a:avLst/>
          </a:prstGeom>
          <a:solidFill>
            <a:srgbClr val="1460AA"/>
          </a:solidFill>
          <a:ln w="9525">
            <a:solidFill>
              <a:srgbClr val="00C9B1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3" name="Text 11"/>
          <p:cNvSpPr/>
          <p:nvPr/>
        </p:nvSpPr>
        <p:spPr>
          <a:xfrm>
            <a:off x="4855464" y="2852928"/>
            <a:ext cx="19385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IPFS + ABE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940296" y="2852928"/>
            <a:ext cx="1938528" cy="384048"/>
          </a:xfrm>
          <a:prstGeom prst="rect">
            <a:avLst/>
          </a:prstGeom>
          <a:solidFill>
            <a:srgbClr val="1460AA"/>
          </a:solidFill>
          <a:ln w="9525">
            <a:solidFill>
              <a:srgbClr val="00C9B1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5" name="Text 13"/>
          <p:cNvSpPr/>
          <p:nvPr/>
        </p:nvSpPr>
        <p:spPr>
          <a:xfrm>
            <a:off x="6940296" y="2852928"/>
            <a:ext cx="19385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Pharmaceutical Traceability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685800" y="4206240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Blockchain Healthcare Research  ·  2025 – 2026</a:t>
            </a:r>
            <a:endParaRPr lang="en-US" sz="1100" dirty="0"/>
          </a:p>
        </p:txBody>
      </p:sp>
      <p:sp>
        <p:nvSpPr>
          <p:cNvPr id="18" name="Text Members"/>
          <p:cNvSpPr/>
          <p:nvPr/>
        </p:nvSpPr>
        <p:spPr>
          <a:xfrm>
            <a:off x="685800" y="4558320"/>
            <a:ext cx="7772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zh-TW" altLang="en-US" sz="900" b="1" dirty="0">
                <a:solidFill>
                  <a:srgbClr val="00C9B1"/>
                </a:solidFill>
                <a:latin typeface="Calibri" pitchFamily="34" charset="0"/>
                <a:ea typeface="Calibri" pitchFamily="34" charset="-122"/>
              </a:rPr>
              <a:t>第 1 組</a:t>
            </a:r>
            <a:r>
              <a:rPr lang="zh-TW" altLang="en-US" sz="900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</a:rPr>
              <a:t xml:space="preserve">  |  411106227 蔡承勳  411106233 林佳嶔  411106239 温家昇  411106243 李敬源</a:t>
            </a:r>
          </a:p>
        </p:txBody>
      </p:sp>
      <p:sp>
        <p:nvSpPr>
          <p:cNvPr id="17" name="Text 15"/>
          <p:cNvSpPr/>
          <p:nvPr/>
        </p:nvSpPr>
        <p:spPr>
          <a:xfrm>
            <a:off x="8321040" y="4892040"/>
            <a:ext cx="640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/ 30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B1E3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57200" cy="5143500"/>
          </a:xfrm>
          <a:prstGeom prst="rect">
            <a:avLst/>
          </a:prstGeom>
          <a:solidFill>
            <a:srgbClr val="F4A22D"/>
          </a:solidFill>
          <a:ln w="12700">
            <a:solidFill>
              <a:srgbClr val="F4A22D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" name="Text 1"/>
          <p:cNvSpPr/>
          <p:nvPr/>
        </p:nvSpPr>
        <p:spPr>
          <a:xfrm>
            <a:off x="685800" y="1097280"/>
            <a:ext cx="82296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醫療資料正面臨</a:t>
            </a:r>
            <a:endParaRPr lang="en-US" sz="4600" dirty="0"/>
          </a:p>
          <a:p>
            <a:pPr marL="0" indent="0" algn="l">
              <a:buNone/>
            </a:pPr>
            <a:r>
              <a:rPr lang="en-US" sz="4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前所未有的信任危機</a:t>
            </a:r>
            <a:endParaRPr lang="en-US" sz="4600" dirty="0"/>
          </a:p>
        </p:txBody>
      </p:sp>
      <p:sp>
        <p:nvSpPr>
          <p:cNvPr id="4" name="Shape 2"/>
          <p:cNvSpPr/>
          <p:nvPr/>
        </p:nvSpPr>
        <p:spPr>
          <a:xfrm>
            <a:off x="685800" y="3246120"/>
            <a:ext cx="8458200" cy="45720"/>
          </a:xfrm>
          <a:prstGeom prst="rect">
            <a:avLst/>
          </a:prstGeom>
          <a:solidFill>
            <a:srgbClr val="F4A22D"/>
          </a:solidFill>
          <a:ln w="12700">
            <a:solidFill>
              <a:srgbClr val="F4A22D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5" name="Text 3"/>
          <p:cNvSpPr/>
          <p:nvPr/>
        </p:nvSpPr>
        <p:spPr>
          <a:xfrm>
            <a:off x="685800" y="342900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資料外洩 · 假藥氾濫 · 病歷造假 · 隱私侵害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8321040" y="4892040"/>
            <a:ext cx="640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30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1E3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5143500"/>
          </a:xfrm>
          <a:prstGeom prst="rect">
            <a:avLst/>
          </a:prstGeom>
          <a:solidFill>
            <a:srgbClr val="009E8C"/>
          </a:solidFill>
          <a:ln w="12700">
            <a:solidFill>
              <a:srgbClr val="009E8C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" name="Text 1"/>
          <p:cNvSpPr/>
          <p:nvPr/>
        </p:nvSpPr>
        <p:spPr>
          <a:xfrm>
            <a:off x="548640" y="411480"/>
            <a:ext cx="832104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l">
              <a:buNone/>
            </a:pPr>
            <a:r>
              <a:rPr lang="en-US" sz="10000" b="1" dirty="0">
                <a:solidFill>
                  <a:srgbClr val="F4A2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$7.42M</a:t>
            </a:r>
            <a:endParaRPr lang="en-US" sz="10000" dirty="0"/>
          </a:p>
        </p:txBody>
      </p:sp>
      <p:sp>
        <p:nvSpPr>
          <p:cNvPr id="4" name="Shape 2"/>
          <p:cNvSpPr/>
          <p:nvPr/>
        </p:nvSpPr>
        <p:spPr>
          <a:xfrm>
            <a:off x="320040" y="2267712"/>
            <a:ext cx="8823960" cy="54864"/>
          </a:xfrm>
          <a:prstGeom prst="rect">
            <a:avLst/>
          </a:prstGeom>
          <a:solidFill>
            <a:srgbClr val="F4A22D"/>
          </a:solidFill>
          <a:ln w="12700">
            <a:solidFill>
              <a:srgbClr val="F4A22D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5" name="Text 3"/>
          <p:cNvSpPr/>
          <p:nvPr/>
        </p:nvSpPr>
        <p:spPr>
          <a:xfrm>
            <a:off x="548640" y="2395728"/>
            <a:ext cx="8321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醫療業平均資料外洩成本（2025）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548640" y="3063240"/>
            <a:ext cx="8321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連續第 14 年位居全行業之首，較前年下降 $2.35M，仍遠超其他所有行業。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48640" y="4800600"/>
            <a:ext cx="8321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4A62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來源：IBM Cost of a Data Breach Report 2025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8321040" y="4892040"/>
            <a:ext cx="640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30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B1E3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5143500"/>
          </a:xfrm>
          <a:prstGeom prst="rect">
            <a:avLst/>
          </a:prstGeom>
          <a:solidFill>
            <a:srgbClr val="009E8C"/>
          </a:solidFill>
          <a:ln w="12700">
            <a:solidFill>
              <a:srgbClr val="009E8C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" name="Text 1"/>
          <p:cNvSpPr/>
          <p:nvPr/>
        </p:nvSpPr>
        <p:spPr>
          <a:xfrm>
            <a:off x="548640" y="411480"/>
            <a:ext cx="832104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l">
              <a:buNone/>
            </a:pPr>
            <a:r>
              <a:rPr lang="en-US" sz="10000" b="1" dirty="0">
                <a:solidFill>
                  <a:srgbClr val="F4A2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1.927 億</a:t>
            </a:r>
            <a:endParaRPr lang="en-US" sz="10000" dirty="0"/>
          </a:p>
        </p:txBody>
      </p:sp>
      <p:sp>
        <p:nvSpPr>
          <p:cNvPr id="4" name="Shape 2"/>
          <p:cNvSpPr/>
          <p:nvPr/>
        </p:nvSpPr>
        <p:spPr>
          <a:xfrm>
            <a:off x="320040" y="2267712"/>
            <a:ext cx="8823960" cy="54864"/>
          </a:xfrm>
          <a:prstGeom prst="rect">
            <a:avLst/>
          </a:prstGeom>
          <a:solidFill>
            <a:srgbClr val="F4A22D"/>
          </a:solidFill>
          <a:ln w="12700">
            <a:solidFill>
              <a:srgbClr val="F4A22D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5" name="Text 3"/>
          <p:cNvSpPr/>
          <p:nvPr/>
        </p:nvSpPr>
        <p:spPr>
          <a:xfrm>
            <a:off x="548640" y="2395728"/>
            <a:ext cx="8321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 Healthcare 事件受影響患者紀錄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548640" y="3063240"/>
            <a:ext cx="8321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史上最大規模醫療資料外洩事件，2025 年 7 月 31 日由 Change Healthcare 向 HHS OCR 最終通報。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48640" y="4800600"/>
            <a:ext cx="8321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4A62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來源：U.S. HHS Office for Civil Rights – Change Healthcare Cybersecurity Incident FAQ (2025)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8321040" y="4892040"/>
            <a:ext cx="640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30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B1E3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57200" cy="5143500"/>
          </a:xfrm>
          <a:prstGeom prst="rect">
            <a:avLst/>
          </a:prstGeom>
          <a:solidFill>
            <a:srgbClr val="009E8C"/>
          </a:solidFill>
          <a:ln w="12700">
            <a:solidFill>
              <a:srgbClr val="009E8C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" name="Shape 1"/>
          <p:cNvSpPr/>
          <p:nvPr/>
        </p:nvSpPr>
        <p:spPr>
          <a:xfrm>
            <a:off x="4572000" y="0"/>
            <a:ext cx="45720" cy="5143500"/>
          </a:xfrm>
          <a:prstGeom prst="rect">
            <a:avLst/>
          </a:prstGeom>
          <a:solidFill>
            <a:srgbClr val="1A3A4A"/>
          </a:solidFill>
          <a:ln w="12700">
            <a:solidFill>
              <a:srgbClr val="1A3A4A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4" name="Text 2"/>
          <p:cNvSpPr/>
          <p:nvPr/>
        </p:nvSpPr>
        <p:spPr>
          <a:xfrm>
            <a:off x="548640" y="548640"/>
            <a:ext cx="38404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200" b="1" dirty="0">
                <a:solidFill>
                  <a:srgbClr val="F4A2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/ 10</a:t>
            </a:r>
            <a:endParaRPr lang="en-US" sz="7200" dirty="0"/>
          </a:p>
        </p:txBody>
      </p:sp>
      <p:sp>
        <p:nvSpPr>
          <p:cNvPr id="5" name="Shape 3"/>
          <p:cNvSpPr/>
          <p:nvPr/>
        </p:nvSpPr>
        <p:spPr>
          <a:xfrm>
            <a:off x="548640" y="2176272"/>
            <a:ext cx="3840480" cy="45720"/>
          </a:xfrm>
          <a:prstGeom prst="rect">
            <a:avLst/>
          </a:prstGeom>
          <a:solidFill>
            <a:srgbClr val="F4A22D"/>
          </a:solidFill>
          <a:ln w="12700">
            <a:solidFill>
              <a:srgbClr val="F4A22D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6" name="Text 4"/>
          <p:cNvSpPr/>
          <p:nvPr/>
        </p:nvSpPr>
        <p:spPr>
          <a:xfrm>
            <a:off x="548640" y="2304288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低中收入國家藥品為假冒品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548640" y="2852928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Fact Sheet，2024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754880" y="548640"/>
            <a:ext cx="42062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200" b="1" dirty="0">
                <a:solidFill>
                  <a:srgbClr val="F0C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267,000</a:t>
            </a:r>
            <a:endParaRPr lang="en-US" sz="7200" dirty="0"/>
          </a:p>
        </p:txBody>
      </p:sp>
      <p:sp>
        <p:nvSpPr>
          <p:cNvPr id="9" name="Shape 7"/>
          <p:cNvSpPr/>
          <p:nvPr/>
        </p:nvSpPr>
        <p:spPr>
          <a:xfrm>
            <a:off x="4754880" y="2176272"/>
            <a:ext cx="4206240" cy="45720"/>
          </a:xfrm>
          <a:prstGeom prst="rect">
            <a:avLst/>
          </a:prstGeom>
          <a:solidFill>
            <a:srgbClr val="F0C040"/>
          </a:solidFill>
          <a:ln w="12700">
            <a:solidFill>
              <a:srgbClr val="F0C040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0" name="Text 8"/>
          <p:cNvSpPr/>
          <p:nvPr/>
        </p:nvSpPr>
        <p:spPr>
          <a:xfrm>
            <a:off x="4754880" y="2304288"/>
            <a:ext cx="4206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非洲每年死亡人數</a:t>
            </a:r>
            <a:endParaRPr lang="en-US" sz="1500" dirty="0"/>
          </a:p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與假冒抗瘧疾藥物相關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4754880" y="3035808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另 169,271 人死亡與假冒抗生素相關（UNODC, 2023）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8321040" y="4892040"/>
            <a:ext cx="640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30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09E8C"/>
          </a:solidFill>
          <a:ln w="12700">
            <a:solidFill>
              <a:srgbClr val="009E8C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" name="Text 1"/>
          <p:cNvSpPr/>
          <p:nvPr/>
        </p:nvSpPr>
        <p:spPr>
          <a:xfrm>
            <a:off x="457200" y="201168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0B1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本研究的三個核心問題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877824"/>
            <a:ext cx="8229600" cy="36576"/>
          </a:xfrm>
          <a:prstGeom prst="rect">
            <a:avLst/>
          </a:prstGeom>
          <a:solidFill>
            <a:srgbClr val="009E8C"/>
          </a:solidFill>
          <a:ln w="12700">
            <a:solidFill>
              <a:srgbClr val="009E8C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5" name="Text 3"/>
          <p:cNvSpPr/>
          <p:nvPr/>
        </p:nvSpPr>
        <p:spPr>
          <a:xfrm>
            <a:off x="8321040" y="4892040"/>
            <a:ext cx="640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30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457200" y="1143000"/>
            <a:ext cx="8229600" cy="1078992"/>
          </a:xfrm>
          <a:prstGeom prst="rect">
            <a:avLst/>
          </a:prstGeom>
          <a:solidFill>
            <a:srgbClr val="FFFFFF"/>
          </a:solidFill>
          <a:ln w="9525">
            <a:solidFill>
              <a:srgbClr val="D8E3EC"/>
            </a:solidFill>
            <a:prstDash val="solid"/>
          </a:ln>
          <a:effectLst>
            <a:outerShdw blurRad="1270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7" name="Shape 5"/>
          <p:cNvSpPr/>
          <p:nvPr/>
        </p:nvSpPr>
        <p:spPr>
          <a:xfrm>
            <a:off x="457200" y="1143000"/>
            <a:ext cx="822960" cy="1078992"/>
          </a:xfrm>
          <a:prstGeom prst="rect">
            <a:avLst/>
          </a:prstGeom>
          <a:solidFill>
            <a:srgbClr val="1460AA"/>
          </a:solidFill>
          <a:ln w="12700">
            <a:solidFill>
              <a:srgbClr val="1460AA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8" name="Text 6"/>
          <p:cNvSpPr/>
          <p:nvPr/>
        </p:nvSpPr>
        <p:spPr>
          <a:xfrm>
            <a:off x="457200" y="1143000"/>
            <a:ext cx="82296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1417320" y="1453896"/>
            <a:ext cx="7132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0B1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如何解決醫療資料孤島與病歷竄改問題？</a:t>
            </a:r>
            <a:endParaRPr lang="en-US" sz="1700" dirty="0"/>
          </a:p>
        </p:txBody>
      </p:sp>
      <p:sp>
        <p:nvSpPr>
          <p:cNvPr id="10" name="Shape 8"/>
          <p:cNvSpPr/>
          <p:nvPr/>
        </p:nvSpPr>
        <p:spPr>
          <a:xfrm>
            <a:off x="457200" y="2404872"/>
            <a:ext cx="8229600" cy="1078992"/>
          </a:xfrm>
          <a:prstGeom prst="rect">
            <a:avLst/>
          </a:prstGeom>
          <a:solidFill>
            <a:srgbClr val="FFFFFF"/>
          </a:solidFill>
          <a:ln w="9525">
            <a:solidFill>
              <a:srgbClr val="D8E3EC"/>
            </a:solidFill>
            <a:prstDash val="solid"/>
          </a:ln>
          <a:effectLst>
            <a:outerShdw blurRad="1270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11" name="Shape 9"/>
          <p:cNvSpPr/>
          <p:nvPr/>
        </p:nvSpPr>
        <p:spPr>
          <a:xfrm>
            <a:off x="457200" y="2404872"/>
            <a:ext cx="822960" cy="1078992"/>
          </a:xfrm>
          <a:prstGeom prst="rect">
            <a:avLst/>
          </a:prstGeom>
          <a:solidFill>
            <a:srgbClr val="009E8C"/>
          </a:solidFill>
          <a:ln w="12700">
            <a:solidFill>
              <a:srgbClr val="009E8C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2" name="Text 10"/>
          <p:cNvSpPr/>
          <p:nvPr/>
        </p:nvSpPr>
        <p:spPr>
          <a:xfrm>
            <a:off x="457200" y="2404872"/>
            <a:ext cx="82296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Q2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1417320" y="2715768"/>
            <a:ext cx="7132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0B1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如何保障藥品供應鏈的真偽可信度？</a:t>
            </a:r>
            <a:endParaRPr lang="en-US" sz="1700" dirty="0"/>
          </a:p>
        </p:txBody>
      </p:sp>
      <p:sp>
        <p:nvSpPr>
          <p:cNvPr id="14" name="Shape 12"/>
          <p:cNvSpPr/>
          <p:nvPr/>
        </p:nvSpPr>
        <p:spPr>
          <a:xfrm>
            <a:off x="457200" y="3666744"/>
            <a:ext cx="8229600" cy="1078992"/>
          </a:xfrm>
          <a:prstGeom prst="rect">
            <a:avLst/>
          </a:prstGeom>
          <a:solidFill>
            <a:srgbClr val="FFFFFF"/>
          </a:solidFill>
          <a:ln w="9525">
            <a:solidFill>
              <a:srgbClr val="D8E3EC"/>
            </a:solidFill>
            <a:prstDash val="solid"/>
          </a:ln>
          <a:effectLst>
            <a:outerShdw blurRad="1270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15" name="Shape 13"/>
          <p:cNvSpPr/>
          <p:nvPr/>
        </p:nvSpPr>
        <p:spPr>
          <a:xfrm>
            <a:off x="457200" y="3666744"/>
            <a:ext cx="822960" cy="1078992"/>
          </a:xfrm>
          <a:prstGeom prst="rect">
            <a:avLst/>
          </a:prstGeom>
          <a:solidFill>
            <a:srgbClr val="1460AA"/>
          </a:solidFill>
          <a:ln w="12700">
            <a:solidFill>
              <a:srgbClr val="1460AA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6" name="Text 14"/>
          <p:cNvSpPr/>
          <p:nvPr/>
        </p:nvSpPr>
        <p:spPr>
          <a:xfrm>
            <a:off x="457200" y="3666744"/>
            <a:ext cx="82296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Q3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1417320" y="3977640"/>
            <a:ext cx="7132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0B1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區塊鏈落地時面臨哪些現實挑戰？</a:t>
            </a:r>
            <a:endParaRPr lang="en-US" sz="17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B1E3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57200" cy="5143500"/>
          </a:xfrm>
          <a:prstGeom prst="rect">
            <a:avLst/>
          </a:prstGeom>
          <a:solidFill>
            <a:srgbClr val="009E8C"/>
          </a:solidFill>
          <a:ln w="12700">
            <a:solidFill>
              <a:srgbClr val="009E8C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" name="Shape 1"/>
          <p:cNvSpPr/>
          <p:nvPr/>
        </p:nvSpPr>
        <p:spPr>
          <a:xfrm>
            <a:off x="457200" y="1920240"/>
            <a:ext cx="8686800" cy="45720"/>
          </a:xfrm>
          <a:prstGeom prst="rect">
            <a:avLst/>
          </a:prstGeom>
          <a:solidFill>
            <a:srgbClr val="00C9B1"/>
          </a:solidFill>
          <a:ln w="12700">
            <a:solidFill>
              <a:srgbClr val="00C9B1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4" name="Text 2"/>
          <p:cNvSpPr/>
          <p:nvPr/>
        </p:nvSpPr>
        <p:spPr>
          <a:xfrm>
            <a:off x="685800" y="77724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00C9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 01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685800" y="1188720"/>
            <a:ext cx="80467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業務情境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685800" y="2286000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病歷管理 · 藥品供應鏈 · 健康資料交換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321040" y="4892040"/>
            <a:ext cx="640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30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09E8C"/>
          </a:solidFill>
          <a:ln w="12700">
            <a:solidFill>
              <a:srgbClr val="009E8C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" name="Text 1"/>
          <p:cNvSpPr/>
          <p:nvPr/>
        </p:nvSpPr>
        <p:spPr>
          <a:xfrm>
            <a:off x="457200" y="201168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0B1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場景一：電子病歷（EMR）管理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877824"/>
            <a:ext cx="8229600" cy="36576"/>
          </a:xfrm>
          <a:prstGeom prst="rect">
            <a:avLst/>
          </a:prstGeom>
          <a:solidFill>
            <a:srgbClr val="009E8C"/>
          </a:solidFill>
          <a:ln w="12700">
            <a:solidFill>
              <a:srgbClr val="009E8C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5" name="Text 3"/>
          <p:cNvSpPr/>
          <p:nvPr/>
        </p:nvSpPr>
        <p:spPr>
          <a:xfrm>
            <a:off x="8321040" y="4892040"/>
            <a:ext cx="640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30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457200" y="1051560"/>
            <a:ext cx="2633472" cy="3383280"/>
          </a:xfrm>
          <a:prstGeom prst="rect">
            <a:avLst/>
          </a:prstGeom>
          <a:solidFill>
            <a:srgbClr val="FFFFFF"/>
          </a:solidFill>
          <a:ln w="9525">
            <a:solidFill>
              <a:srgbClr val="D8E3EC"/>
            </a:solidFill>
            <a:prstDash val="solid"/>
          </a:ln>
          <a:effectLst>
            <a:outerShdw blurRad="1270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7" name="Shape 5"/>
          <p:cNvSpPr/>
          <p:nvPr/>
        </p:nvSpPr>
        <p:spPr>
          <a:xfrm>
            <a:off x="457200" y="1051560"/>
            <a:ext cx="2633472" cy="411480"/>
          </a:xfrm>
          <a:prstGeom prst="rect">
            <a:avLst/>
          </a:prstGeom>
          <a:solidFill>
            <a:srgbClr val="1460AA"/>
          </a:solidFill>
          <a:ln w="12700">
            <a:solidFill>
              <a:srgbClr val="1460AA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8" name="Text 6"/>
          <p:cNvSpPr/>
          <p:nvPr/>
        </p:nvSpPr>
        <p:spPr>
          <a:xfrm>
            <a:off x="457200" y="1051560"/>
            <a:ext cx="26334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就診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566928" y="1527048"/>
            <a:ext cx="241401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0B1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資料輸入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66928" y="1984248"/>
            <a:ext cx="2414016" cy="23591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50" dirty="0">
                <a:solidFill>
                  <a:srgbClr val="4A62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醫師於醫院 HIS 輸入病歷，儲存於院內私有伺服器或雲端平台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3255264" y="1051560"/>
            <a:ext cx="2633472" cy="3383280"/>
          </a:xfrm>
          <a:prstGeom prst="rect">
            <a:avLst/>
          </a:prstGeom>
          <a:solidFill>
            <a:srgbClr val="FFFFFF"/>
          </a:solidFill>
          <a:ln w="9525">
            <a:solidFill>
              <a:srgbClr val="D8E3EC"/>
            </a:solidFill>
            <a:prstDash val="solid"/>
          </a:ln>
          <a:effectLst>
            <a:outerShdw blurRad="1270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12" name="Shape 10"/>
          <p:cNvSpPr/>
          <p:nvPr/>
        </p:nvSpPr>
        <p:spPr>
          <a:xfrm>
            <a:off x="3255264" y="1051560"/>
            <a:ext cx="2633472" cy="411480"/>
          </a:xfrm>
          <a:prstGeom prst="rect">
            <a:avLst/>
          </a:prstGeom>
          <a:solidFill>
            <a:srgbClr val="009E8C"/>
          </a:solidFill>
          <a:ln w="12700">
            <a:solidFill>
              <a:srgbClr val="009E8C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3" name="Text 11"/>
          <p:cNvSpPr/>
          <p:nvPr/>
        </p:nvSpPr>
        <p:spPr>
          <a:xfrm>
            <a:off x="3255264" y="1051560"/>
            <a:ext cx="26334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轉診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3364992" y="1527048"/>
            <a:ext cx="241401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0B1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跨院調閱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3364992" y="1984248"/>
            <a:ext cx="2414016" cy="23591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50" dirty="0">
                <a:solidFill>
                  <a:srgbClr val="4A62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需人工申請，以紙本或 CD 傳遞，等待時間長、資訊落差大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053328" y="1051560"/>
            <a:ext cx="2633472" cy="3383280"/>
          </a:xfrm>
          <a:prstGeom prst="rect">
            <a:avLst/>
          </a:prstGeom>
          <a:solidFill>
            <a:srgbClr val="FFFFFF"/>
          </a:solidFill>
          <a:ln w="9525">
            <a:solidFill>
              <a:srgbClr val="D8E3EC"/>
            </a:solidFill>
            <a:prstDash val="solid"/>
          </a:ln>
          <a:effectLst>
            <a:outerShdw blurRad="1270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17" name="Shape 15"/>
          <p:cNvSpPr/>
          <p:nvPr/>
        </p:nvSpPr>
        <p:spPr>
          <a:xfrm>
            <a:off x="6053328" y="1051560"/>
            <a:ext cx="2633472" cy="411480"/>
          </a:xfrm>
          <a:prstGeom prst="rect">
            <a:avLst/>
          </a:prstGeom>
          <a:solidFill>
            <a:srgbClr val="1460AA"/>
          </a:solidFill>
          <a:ln w="12700">
            <a:solidFill>
              <a:srgbClr val="1460AA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8" name="Text 16"/>
          <p:cNvSpPr/>
          <p:nvPr/>
        </p:nvSpPr>
        <p:spPr>
          <a:xfrm>
            <a:off x="6053328" y="1051560"/>
            <a:ext cx="26334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應用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6163056" y="1527048"/>
            <a:ext cx="241401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0B1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二次利用困難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6163056" y="1984248"/>
            <a:ext cx="2414016" cy="23591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50" dirty="0">
                <a:solidFill>
                  <a:srgbClr val="4A62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保險理賠流程繁複；研究機構難以取得大規模去識別化資料</a:t>
            </a:r>
            <a:endParaRPr lang="en-US" sz="12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09E8C"/>
          </a:solidFill>
          <a:ln w="12700">
            <a:solidFill>
              <a:srgbClr val="009E8C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" name="Text 1"/>
          <p:cNvSpPr/>
          <p:nvPr/>
        </p:nvSpPr>
        <p:spPr>
          <a:xfrm>
            <a:off x="457200" y="201168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0B1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場景二：藥品供應鏈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877824"/>
            <a:ext cx="8229600" cy="36576"/>
          </a:xfrm>
          <a:prstGeom prst="rect">
            <a:avLst/>
          </a:prstGeom>
          <a:solidFill>
            <a:srgbClr val="009E8C"/>
          </a:solidFill>
          <a:ln w="12700">
            <a:solidFill>
              <a:srgbClr val="009E8C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5" name="Text 3"/>
          <p:cNvSpPr/>
          <p:nvPr/>
        </p:nvSpPr>
        <p:spPr>
          <a:xfrm>
            <a:off x="8321040" y="4892040"/>
            <a:ext cx="640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30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457200" y="1325880"/>
            <a:ext cx="1280160" cy="640080"/>
          </a:xfrm>
          <a:prstGeom prst="rect">
            <a:avLst/>
          </a:prstGeom>
          <a:solidFill>
            <a:srgbClr val="1460AA"/>
          </a:solidFill>
          <a:ln w="12700">
            <a:solidFill>
              <a:srgbClr val="1460AA"/>
            </a:solidFill>
            <a:prstDash val="solid"/>
          </a:ln>
          <a:effectLst>
            <a:outerShdw blurRad="1270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7" name="Text 5"/>
          <p:cNvSpPr/>
          <p:nvPr/>
        </p:nvSpPr>
        <p:spPr>
          <a:xfrm>
            <a:off x="457200" y="1325880"/>
            <a:ext cx="1280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原料藥廠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1737360" y="1645920"/>
            <a:ext cx="164592" cy="0"/>
          </a:xfrm>
          <a:prstGeom prst="line">
            <a:avLst/>
          </a:prstGeom>
          <a:noFill/>
          <a:ln w="19050">
            <a:solidFill>
              <a:srgbClr val="8FA3B1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9" name="Text 7"/>
          <p:cNvSpPr/>
          <p:nvPr/>
        </p:nvSpPr>
        <p:spPr>
          <a:xfrm>
            <a:off x="1737360" y="1481328"/>
            <a:ext cx="16459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1901952" y="1325880"/>
            <a:ext cx="1280160" cy="640080"/>
          </a:xfrm>
          <a:prstGeom prst="rect">
            <a:avLst/>
          </a:prstGeom>
          <a:solidFill>
            <a:srgbClr val="009E8C"/>
          </a:solidFill>
          <a:ln w="12700">
            <a:solidFill>
              <a:srgbClr val="009E8C"/>
            </a:solidFill>
            <a:prstDash val="solid"/>
          </a:ln>
          <a:effectLst>
            <a:outerShdw blurRad="1270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11" name="Text 9"/>
          <p:cNvSpPr/>
          <p:nvPr/>
        </p:nvSpPr>
        <p:spPr>
          <a:xfrm>
            <a:off x="1901952" y="1325880"/>
            <a:ext cx="1280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製藥廠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3182112" y="1645920"/>
            <a:ext cx="164592" cy="0"/>
          </a:xfrm>
          <a:prstGeom prst="line">
            <a:avLst/>
          </a:prstGeom>
          <a:noFill/>
          <a:ln w="19050">
            <a:solidFill>
              <a:srgbClr val="8FA3B1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3" name="Text 11"/>
          <p:cNvSpPr/>
          <p:nvPr/>
        </p:nvSpPr>
        <p:spPr>
          <a:xfrm>
            <a:off x="3182112" y="1481328"/>
            <a:ext cx="16459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3346704" y="1325880"/>
            <a:ext cx="1280160" cy="640080"/>
          </a:xfrm>
          <a:prstGeom prst="rect">
            <a:avLst/>
          </a:prstGeom>
          <a:solidFill>
            <a:srgbClr val="1460AA"/>
          </a:solidFill>
          <a:ln w="12700">
            <a:solidFill>
              <a:srgbClr val="1460AA"/>
            </a:solidFill>
            <a:prstDash val="solid"/>
          </a:ln>
          <a:effectLst>
            <a:outerShdw blurRad="1270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15" name="Text 13"/>
          <p:cNvSpPr/>
          <p:nvPr/>
        </p:nvSpPr>
        <p:spPr>
          <a:xfrm>
            <a:off x="3346704" y="1325880"/>
            <a:ext cx="1280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批發商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4626864" y="1645920"/>
            <a:ext cx="164592" cy="0"/>
          </a:xfrm>
          <a:prstGeom prst="line">
            <a:avLst/>
          </a:prstGeom>
          <a:noFill/>
          <a:ln w="19050">
            <a:solidFill>
              <a:srgbClr val="8FA3B1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7" name="Text 15"/>
          <p:cNvSpPr/>
          <p:nvPr/>
        </p:nvSpPr>
        <p:spPr>
          <a:xfrm>
            <a:off x="4626864" y="1481328"/>
            <a:ext cx="16459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4791456" y="1325880"/>
            <a:ext cx="1280160" cy="640080"/>
          </a:xfrm>
          <a:prstGeom prst="rect">
            <a:avLst/>
          </a:prstGeom>
          <a:solidFill>
            <a:srgbClr val="009E8C"/>
          </a:solidFill>
          <a:ln w="12700">
            <a:solidFill>
              <a:srgbClr val="009E8C"/>
            </a:solidFill>
            <a:prstDash val="solid"/>
          </a:ln>
          <a:effectLst>
            <a:outerShdw blurRad="1270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19" name="Text 17"/>
          <p:cNvSpPr/>
          <p:nvPr/>
        </p:nvSpPr>
        <p:spPr>
          <a:xfrm>
            <a:off x="4791456" y="1325880"/>
            <a:ext cx="1280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藥局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6071616" y="1645920"/>
            <a:ext cx="164592" cy="0"/>
          </a:xfrm>
          <a:prstGeom prst="line">
            <a:avLst/>
          </a:prstGeom>
          <a:noFill/>
          <a:ln w="19050">
            <a:solidFill>
              <a:srgbClr val="8FA3B1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1" name="Text 19"/>
          <p:cNvSpPr/>
          <p:nvPr/>
        </p:nvSpPr>
        <p:spPr>
          <a:xfrm>
            <a:off x="6071616" y="1481328"/>
            <a:ext cx="16459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6236208" y="1325880"/>
            <a:ext cx="1280160" cy="640080"/>
          </a:xfrm>
          <a:prstGeom prst="rect">
            <a:avLst/>
          </a:prstGeom>
          <a:solidFill>
            <a:srgbClr val="1460AA"/>
          </a:solidFill>
          <a:ln w="12700">
            <a:solidFill>
              <a:srgbClr val="1460AA"/>
            </a:solidFill>
            <a:prstDash val="solid"/>
          </a:ln>
          <a:effectLst>
            <a:outerShdw blurRad="1270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23" name="Text 21"/>
          <p:cNvSpPr/>
          <p:nvPr/>
        </p:nvSpPr>
        <p:spPr>
          <a:xfrm>
            <a:off x="6236208" y="1325880"/>
            <a:ext cx="1280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患者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457200" y="2331720"/>
            <a:ext cx="2743200" cy="2468880"/>
          </a:xfrm>
          <a:prstGeom prst="rect">
            <a:avLst/>
          </a:prstGeom>
          <a:solidFill>
            <a:srgbClr val="FFFFFF"/>
          </a:solidFill>
          <a:ln w="9525">
            <a:solidFill>
              <a:srgbClr val="D8E3EC"/>
            </a:solidFill>
            <a:prstDash val="solid"/>
          </a:ln>
          <a:effectLst>
            <a:outerShdw blurRad="1270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25" name="Shape 23"/>
          <p:cNvSpPr/>
          <p:nvPr/>
        </p:nvSpPr>
        <p:spPr>
          <a:xfrm>
            <a:off x="457200" y="2331720"/>
            <a:ext cx="2743200" cy="54864"/>
          </a:xfrm>
          <a:prstGeom prst="rect">
            <a:avLst/>
          </a:prstGeom>
          <a:solidFill>
            <a:srgbClr val="009E8C"/>
          </a:solidFill>
          <a:ln w="12700">
            <a:solidFill>
              <a:srgbClr val="009E8C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6" name="Text 24"/>
          <p:cNvSpPr/>
          <p:nvPr/>
        </p:nvSpPr>
        <p:spPr>
          <a:xfrm>
            <a:off x="548640" y="2468880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1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鏈條長、多方參與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548640" y="2944368"/>
            <a:ext cx="25603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4A62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5+ 類利害關係人，各有私有系統</a:t>
            </a:r>
            <a:endParaRPr lang="en-US" sz="1250" dirty="0"/>
          </a:p>
        </p:txBody>
      </p:sp>
      <p:sp>
        <p:nvSpPr>
          <p:cNvPr id="28" name="Shape 26"/>
          <p:cNvSpPr/>
          <p:nvPr/>
        </p:nvSpPr>
        <p:spPr>
          <a:xfrm>
            <a:off x="3355848" y="2331720"/>
            <a:ext cx="2743200" cy="2468880"/>
          </a:xfrm>
          <a:prstGeom prst="rect">
            <a:avLst/>
          </a:prstGeom>
          <a:solidFill>
            <a:srgbClr val="FFFFFF"/>
          </a:solidFill>
          <a:ln w="9525">
            <a:solidFill>
              <a:srgbClr val="D8E3EC"/>
            </a:solidFill>
            <a:prstDash val="solid"/>
          </a:ln>
          <a:effectLst>
            <a:outerShdw blurRad="1270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29" name="Shape 27"/>
          <p:cNvSpPr/>
          <p:nvPr/>
        </p:nvSpPr>
        <p:spPr>
          <a:xfrm>
            <a:off x="3355848" y="2331720"/>
            <a:ext cx="2743200" cy="54864"/>
          </a:xfrm>
          <a:prstGeom prst="rect">
            <a:avLst/>
          </a:prstGeom>
          <a:solidFill>
            <a:srgbClr val="009E8C"/>
          </a:solidFill>
          <a:ln w="12700">
            <a:solidFill>
              <a:srgbClr val="009E8C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0" name="Text 28"/>
          <p:cNvSpPr/>
          <p:nvPr/>
        </p:nvSpPr>
        <p:spPr>
          <a:xfrm>
            <a:off x="3447288" y="2468880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1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條碼追蹤易仿製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3447288" y="2944368"/>
            <a:ext cx="25603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4A62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現行 QR Code 無法提供可信真偽驗證</a:t>
            </a:r>
            <a:endParaRPr lang="en-US" sz="1250" dirty="0"/>
          </a:p>
        </p:txBody>
      </p:sp>
      <p:sp>
        <p:nvSpPr>
          <p:cNvPr id="32" name="Shape 30"/>
          <p:cNvSpPr/>
          <p:nvPr/>
        </p:nvSpPr>
        <p:spPr>
          <a:xfrm>
            <a:off x="6254496" y="2331720"/>
            <a:ext cx="2743200" cy="2468880"/>
          </a:xfrm>
          <a:prstGeom prst="rect">
            <a:avLst/>
          </a:prstGeom>
          <a:solidFill>
            <a:srgbClr val="FFFFFF"/>
          </a:solidFill>
          <a:ln w="9525">
            <a:solidFill>
              <a:srgbClr val="D8E3EC"/>
            </a:solidFill>
            <a:prstDash val="solid"/>
          </a:ln>
          <a:effectLst>
            <a:outerShdw blurRad="1270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33" name="Shape 31"/>
          <p:cNvSpPr/>
          <p:nvPr/>
        </p:nvSpPr>
        <p:spPr>
          <a:xfrm>
            <a:off x="6254496" y="2331720"/>
            <a:ext cx="2743200" cy="54864"/>
          </a:xfrm>
          <a:prstGeom prst="rect">
            <a:avLst/>
          </a:prstGeom>
          <a:solidFill>
            <a:srgbClr val="009E8C"/>
          </a:solidFill>
          <a:ln w="12700">
            <a:solidFill>
              <a:srgbClr val="009E8C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4" name="Text 32"/>
          <p:cNvSpPr/>
          <p:nvPr/>
        </p:nvSpPr>
        <p:spPr>
          <a:xfrm>
            <a:off x="6345936" y="2468880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1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冷鏈溫控不透明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6345936" y="2944368"/>
            <a:ext cx="25603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4A62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胰島素、疫苗儲運合規性難以稽核</a:t>
            </a:r>
            <a:endParaRPr lang="en-US" sz="12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09E8C"/>
          </a:solidFill>
          <a:ln w="12700">
            <a:solidFill>
              <a:srgbClr val="009E8C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" name="Text 1"/>
          <p:cNvSpPr/>
          <p:nvPr/>
        </p:nvSpPr>
        <p:spPr>
          <a:xfrm>
            <a:off x="457200" y="201168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0B1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場景三：健康資料交換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877824"/>
            <a:ext cx="8229600" cy="36576"/>
          </a:xfrm>
          <a:prstGeom prst="rect">
            <a:avLst/>
          </a:prstGeom>
          <a:solidFill>
            <a:srgbClr val="009E8C"/>
          </a:solidFill>
          <a:ln w="12700">
            <a:solidFill>
              <a:srgbClr val="009E8C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5" name="Text 3"/>
          <p:cNvSpPr/>
          <p:nvPr/>
        </p:nvSpPr>
        <p:spPr>
          <a:xfrm>
            <a:off x="8321040" y="4892040"/>
            <a:ext cx="640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30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457200" y="1051560"/>
            <a:ext cx="3474720" cy="3840480"/>
          </a:xfrm>
          <a:prstGeom prst="rect">
            <a:avLst/>
          </a:prstGeom>
          <a:solidFill>
            <a:srgbClr val="FFFFFF"/>
          </a:solidFill>
          <a:ln w="9525">
            <a:solidFill>
              <a:srgbClr val="D8E3EC"/>
            </a:solidFill>
            <a:prstDash val="solid"/>
          </a:ln>
          <a:effectLst>
            <a:outerShdw blurRad="1270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7" name="Shape 5"/>
          <p:cNvSpPr/>
          <p:nvPr/>
        </p:nvSpPr>
        <p:spPr>
          <a:xfrm>
            <a:off x="457200" y="1051560"/>
            <a:ext cx="3474720" cy="438912"/>
          </a:xfrm>
          <a:prstGeom prst="rect">
            <a:avLst/>
          </a:prstGeom>
          <a:solidFill>
            <a:srgbClr val="1460AA"/>
          </a:solidFill>
          <a:ln w="12700">
            <a:solidFill>
              <a:srgbClr val="1460AA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8" name="Text 6"/>
          <p:cNvSpPr/>
          <p:nvPr/>
        </p:nvSpPr>
        <p:spPr>
          <a:xfrm>
            <a:off x="548640" y="1051560"/>
            <a:ext cx="3291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多元健康資料來源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94360" y="1600200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B1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基因組學資料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94360" y="2221992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B1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穿戴裝置數據（Apple Watch, CGM）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594360" y="2843784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B1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慢性病管理紀錄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94360" y="3465576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B1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醫院 EMR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069080" y="2651760"/>
            <a:ext cx="640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009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4846320" y="1051560"/>
            <a:ext cx="3840480" cy="3840480"/>
          </a:xfrm>
          <a:prstGeom prst="rect">
            <a:avLst/>
          </a:prstGeom>
          <a:solidFill>
            <a:srgbClr val="FFFFFF"/>
          </a:solidFill>
          <a:ln w="9525">
            <a:solidFill>
              <a:srgbClr val="D8E3EC"/>
            </a:solidFill>
            <a:prstDash val="solid"/>
          </a:ln>
          <a:effectLst>
            <a:outerShdw blurRad="1270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15" name="Shape 13"/>
          <p:cNvSpPr/>
          <p:nvPr/>
        </p:nvSpPr>
        <p:spPr>
          <a:xfrm>
            <a:off x="4846320" y="1051560"/>
            <a:ext cx="3840480" cy="438912"/>
          </a:xfrm>
          <a:prstGeom prst="rect">
            <a:avLst/>
          </a:prstGeom>
          <a:solidFill>
            <a:srgbClr val="009E8C"/>
          </a:solidFill>
          <a:ln w="12700">
            <a:solidFill>
              <a:srgbClr val="009E8C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6" name="Text 14"/>
          <p:cNvSpPr/>
          <p:nvPr/>
        </p:nvSpPr>
        <p:spPr>
          <a:xfrm>
            <a:off x="4937760" y="1051560"/>
            <a:ext cx="3657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資料需求方 &amp; 法規框架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983480" y="1600200"/>
            <a:ext cx="3566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B1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主治 / 專科醫師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983480" y="2221992"/>
            <a:ext cx="3566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B1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保險公司、健康管理平台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983480" y="2843784"/>
            <a:ext cx="3566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B1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個資法 / GDPR / HIPAA 保護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4983480" y="3465576"/>
            <a:ext cx="3566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B1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需在隱私保護下安全共享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B1E3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57200" cy="5143500"/>
          </a:xfrm>
          <a:prstGeom prst="rect">
            <a:avLst/>
          </a:prstGeom>
          <a:solidFill>
            <a:srgbClr val="009E8C"/>
          </a:solidFill>
          <a:ln w="12700">
            <a:solidFill>
              <a:srgbClr val="009E8C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" name="Shape 1"/>
          <p:cNvSpPr/>
          <p:nvPr/>
        </p:nvSpPr>
        <p:spPr>
          <a:xfrm>
            <a:off x="457200" y="1920240"/>
            <a:ext cx="8686800" cy="45720"/>
          </a:xfrm>
          <a:prstGeom prst="rect">
            <a:avLst/>
          </a:prstGeom>
          <a:solidFill>
            <a:srgbClr val="00C9B1"/>
          </a:solidFill>
          <a:ln w="12700">
            <a:solidFill>
              <a:srgbClr val="00C9B1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4" name="Text 2"/>
          <p:cNvSpPr/>
          <p:nvPr/>
        </p:nvSpPr>
        <p:spPr>
          <a:xfrm>
            <a:off x="685800" y="77724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00C9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 02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685800" y="1188720"/>
            <a:ext cx="80467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現狀關鍵問題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685800" y="2286000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資料孤島 · 資安漏洞 · 假藥氾濫 · 召回困難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321040" y="4892040"/>
            <a:ext cx="640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30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09E8C"/>
          </a:solidFill>
          <a:ln w="12700">
            <a:solidFill>
              <a:srgbClr val="009E8C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" name="Text 1"/>
          <p:cNvSpPr/>
          <p:nvPr/>
        </p:nvSpPr>
        <p:spPr>
          <a:xfrm>
            <a:off x="457200" y="201168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0B1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病歷管理：四大問題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877824"/>
            <a:ext cx="8229600" cy="36576"/>
          </a:xfrm>
          <a:prstGeom prst="rect">
            <a:avLst/>
          </a:prstGeom>
          <a:solidFill>
            <a:srgbClr val="009E8C"/>
          </a:solidFill>
          <a:ln w="12700">
            <a:solidFill>
              <a:srgbClr val="009E8C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5" name="Text 3"/>
          <p:cNvSpPr/>
          <p:nvPr/>
        </p:nvSpPr>
        <p:spPr>
          <a:xfrm>
            <a:off x="8321040" y="4892040"/>
            <a:ext cx="640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30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457200" y="1051560"/>
            <a:ext cx="4069080" cy="1810512"/>
          </a:xfrm>
          <a:prstGeom prst="rect">
            <a:avLst/>
          </a:prstGeom>
          <a:solidFill>
            <a:srgbClr val="FFFFFF"/>
          </a:solidFill>
          <a:ln w="9525">
            <a:solidFill>
              <a:srgbClr val="D8E3EC"/>
            </a:solidFill>
            <a:prstDash val="solid"/>
          </a:ln>
          <a:effectLst>
            <a:outerShdw blurRad="1270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7" name="Shape 5"/>
          <p:cNvSpPr/>
          <p:nvPr/>
        </p:nvSpPr>
        <p:spPr>
          <a:xfrm>
            <a:off x="457200" y="1051560"/>
            <a:ext cx="4069080" cy="420624"/>
          </a:xfrm>
          <a:prstGeom prst="rect">
            <a:avLst/>
          </a:prstGeom>
          <a:solidFill>
            <a:srgbClr val="1460AA"/>
          </a:solidFill>
          <a:ln w="12700">
            <a:solidFill>
              <a:srgbClr val="1460AA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8" name="Text 6"/>
          <p:cNvSpPr/>
          <p:nvPr/>
        </p:nvSpPr>
        <p:spPr>
          <a:xfrm>
            <a:off x="566928" y="1051560"/>
            <a:ext cx="38404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  資料孤島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66928" y="1545336"/>
            <a:ext cx="3840480" cy="12435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4A62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各院 HIS 封閉，跨院轉診無法即時取得完整病史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4709160" y="1051560"/>
            <a:ext cx="4069080" cy="1810512"/>
          </a:xfrm>
          <a:prstGeom prst="rect">
            <a:avLst/>
          </a:prstGeom>
          <a:solidFill>
            <a:srgbClr val="FFFFFF"/>
          </a:solidFill>
          <a:ln w="9525">
            <a:solidFill>
              <a:srgbClr val="D8E3EC"/>
            </a:solidFill>
            <a:prstDash val="solid"/>
          </a:ln>
          <a:effectLst>
            <a:outerShdw blurRad="1270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11" name="Shape 9"/>
          <p:cNvSpPr/>
          <p:nvPr/>
        </p:nvSpPr>
        <p:spPr>
          <a:xfrm>
            <a:off x="4709160" y="1051560"/>
            <a:ext cx="4069080" cy="420624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2" name="Text 10"/>
          <p:cNvSpPr/>
          <p:nvPr/>
        </p:nvSpPr>
        <p:spPr>
          <a:xfrm>
            <a:off x="4818888" y="1051560"/>
            <a:ext cx="38404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  資安漏洞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818888" y="1545336"/>
            <a:ext cx="3840480" cy="12435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4A62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單點失效架構；Change Healthcare 波及 1.927 億筆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457200" y="3017520"/>
            <a:ext cx="4069080" cy="1810512"/>
          </a:xfrm>
          <a:prstGeom prst="rect">
            <a:avLst/>
          </a:prstGeom>
          <a:solidFill>
            <a:srgbClr val="FFFFFF"/>
          </a:solidFill>
          <a:ln w="9525">
            <a:solidFill>
              <a:srgbClr val="D8E3EC"/>
            </a:solidFill>
            <a:prstDash val="solid"/>
          </a:ln>
          <a:effectLst>
            <a:outerShdw blurRad="1270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15" name="Shape 13"/>
          <p:cNvSpPr/>
          <p:nvPr/>
        </p:nvSpPr>
        <p:spPr>
          <a:xfrm>
            <a:off x="457200" y="3017520"/>
            <a:ext cx="4069080" cy="420624"/>
          </a:xfrm>
          <a:prstGeom prst="rect">
            <a:avLst/>
          </a:prstGeom>
          <a:solidFill>
            <a:srgbClr val="1460AA"/>
          </a:solidFill>
          <a:ln w="12700">
            <a:solidFill>
              <a:srgbClr val="1460AA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6" name="Text 14"/>
          <p:cNvSpPr/>
          <p:nvPr/>
        </p:nvSpPr>
        <p:spPr>
          <a:xfrm>
            <a:off x="566928" y="3017520"/>
            <a:ext cx="38404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  資料可竄改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566928" y="3511296"/>
            <a:ext cx="3840480" cy="12435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4A62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管理員可不留痕跡修改紀錄；醫療糾紛舉證困難</a:t>
            </a:r>
            <a:endParaRPr lang="en-US" sz="1350" dirty="0"/>
          </a:p>
        </p:txBody>
      </p:sp>
      <p:sp>
        <p:nvSpPr>
          <p:cNvPr id="18" name="Shape 16"/>
          <p:cNvSpPr/>
          <p:nvPr/>
        </p:nvSpPr>
        <p:spPr>
          <a:xfrm>
            <a:off x="4709160" y="3017520"/>
            <a:ext cx="4069080" cy="1810512"/>
          </a:xfrm>
          <a:prstGeom prst="rect">
            <a:avLst/>
          </a:prstGeom>
          <a:solidFill>
            <a:srgbClr val="FFFFFF"/>
          </a:solidFill>
          <a:ln w="9525">
            <a:solidFill>
              <a:srgbClr val="D8E3EC"/>
            </a:solidFill>
            <a:prstDash val="solid"/>
          </a:ln>
          <a:effectLst>
            <a:outerShdw blurRad="1270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19" name="Shape 17"/>
          <p:cNvSpPr/>
          <p:nvPr/>
        </p:nvSpPr>
        <p:spPr>
          <a:xfrm>
            <a:off x="4709160" y="3017520"/>
            <a:ext cx="4069080" cy="420624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0" name="Text 18"/>
          <p:cNvSpPr/>
          <p:nvPr/>
        </p:nvSpPr>
        <p:spPr>
          <a:xfrm>
            <a:off x="4818888" y="3017520"/>
            <a:ext cx="38404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  授權控制薄弱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818888" y="3511296"/>
            <a:ext cx="3840480" cy="12435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4A62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患者無法精細管控誰能查看哪些資料</a:t>
            </a:r>
            <a:endParaRPr lang="en-US" sz="13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09E8C"/>
          </a:solidFill>
          <a:ln w="12700">
            <a:solidFill>
              <a:srgbClr val="009E8C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" name="Text 1"/>
          <p:cNvSpPr/>
          <p:nvPr/>
        </p:nvSpPr>
        <p:spPr>
          <a:xfrm>
            <a:off x="457200" y="201168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0B1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藥品供應鏈：三大問題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877824"/>
            <a:ext cx="8229600" cy="36576"/>
          </a:xfrm>
          <a:prstGeom prst="rect">
            <a:avLst/>
          </a:prstGeom>
          <a:solidFill>
            <a:srgbClr val="009E8C"/>
          </a:solidFill>
          <a:ln w="12700">
            <a:solidFill>
              <a:srgbClr val="009E8C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5" name="Text 3"/>
          <p:cNvSpPr/>
          <p:nvPr/>
        </p:nvSpPr>
        <p:spPr>
          <a:xfrm>
            <a:off x="8321040" y="4892040"/>
            <a:ext cx="640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/ 30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457200" y="1051560"/>
            <a:ext cx="8229600" cy="1170432"/>
          </a:xfrm>
          <a:prstGeom prst="rect">
            <a:avLst/>
          </a:prstGeom>
          <a:solidFill>
            <a:srgbClr val="FFFFFF"/>
          </a:solidFill>
          <a:ln w="9525">
            <a:solidFill>
              <a:srgbClr val="D8E3EC"/>
            </a:solidFill>
            <a:prstDash val="solid"/>
          </a:ln>
          <a:effectLst>
            <a:outerShdw blurRad="1270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7" name="Shape 5"/>
          <p:cNvSpPr/>
          <p:nvPr/>
        </p:nvSpPr>
        <p:spPr>
          <a:xfrm>
            <a:off x="457200" y="1051560"/>
            <a:ext cx="566928" cy="1170432"/>
          </a:xfrm>
          <a:prstGeom prst="rect">
            <a:avLst/>
          </a:prstGeom>
          <a:solidFill>
            <a:srgbClr val="009E8C"/>
          </a:solidFill>
          <a:ln w="12700">
            <a:solidFill>
              <a:srgbClr val="009E8C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8" name="Text 6"/>
          <p:cNvSpPr/>
          <p:nvPr/>
        </p:nvSpPr>
        <p:spPr>
          <a:xfrm>
            <a:off x="457200" y="1051560"/>
            <a:ext cx="566928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133856" y="1106424"/>
            <a:ext cx="74615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09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假藥氾濫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1133856" y="1399032"/>
            <a:ext cx="7461504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A62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WHO：低中收入國家 1/10 藥品為假冒品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4A62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UNODC：每年 26.7 萬人死於假冒抗瘧疾藥物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57200" y="2404872"/>
            <a:ext cx="8229600" cy="1170432"/>
          </a:xfrm>
          <a:prstGeom prst="rect">
            <a:avLst/>
          </a:prstGeom>
          <a:solidFill>
            <a:srgbClr val="FFFFFF"/>
          </a:solidFill>
          <a:ln w="9525">
            <a:solidFill>
              <a:srgbClr val="D8E3EC"/>
            </a:solidFill>
            <a:prstDash val="solid"/>
          </a:ln>
          <a:effectLst>
            <a:outerShdw blurRad="1270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12" name="Shape 10"/>
          <p:cNvSpPr/>
          <p:nvPr/>
        </p:nvSpPr>
        <p:spPr>
          <a:xfrm>
            <a:off x="457200" y="2404872"/>
            <a:ext cx="566928" cy="1170432"/>
          </a:xfrm>
          <a:prstGeom prst="rect">
            <a:avLst/>
          </a:prstGeom>
          <a:solidFill>
            <a:srgbClr val="1460AA"/>
          </a:solidFill>
          <a:ln w="12700">
            <a:solidFill>
              <a:srgbClr val="1460AA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3" name="Text 11"/>
          <p:cNvSpPr/>
          <p:nvPr/>
        </p:nvSpPr>
        <p:spPr>
          <a:xfrm>
            <a:off x="457200" y="2404872"/>
            <a:ext cx="566928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1133856" y="2459736"/>
            <a:ext cx="74615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460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供應鏈不透明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1133856" y="2752344"/>
            <a:ext cx="7461504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A62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各方資訊孤立於私有系統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4A62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冷鏈溫控記錄無法即時稽核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57200" y="3758184"/>
            <a:ext cx="8229600" cy="1170432"/>
          </a:xfrm>
          <a:prstGeom prst="rect">
            <a:avLst/>
          </a:prstGeom>
          <a:solidFill>
            <a:srgbClr val="FFFFFF"/>
          </a:solidFill>
          <a:ln w="9525">
            <a:solidFill>
              <a:srgbClr val="D8E3EC"/>
            </a:solidFill>
            <a:prstDash val="solid"/>
          </a:ln>
          <a:effectLst>
            <a:outerShdw blurRad="1270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17" name="Shape 15"/>
          <p:cNvSpPr/>
          <p:nvPr/>
        </p:nvSpPr>
        <p:spPr>
          <a:xfrm>
            <a:off x="457200" y="3758184"/>
            <a:ext cx="566928" cy="1170432"/>
          </a:xfrm>
          <a:prstGeom prst="rect">
            <a:avLst/>
          </a:prstGeom>
          <a:solidFill>
            <a:srgbClr val="009E8C"/>
          </a:solidFill>
          <a:ln w="12700">
            <a:solidFill>
              <a:srgbClr val="009E8C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8" name="Text 16"/>
          <p:cNvSpPr/>
          <p:nvPr/>
        </p:nvSpPr>
        <p:spPr>
          <a:xfrm>
            <a:off x="457200" y="3758184"/>
            <a:ext cx="566928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1133856" y="3813048"/>
            <a:ext cx="74615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09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召回耗時費力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1133856" y="4105656"/>
            <a:ext cx="7461504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A62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平均響應需數日至數週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4A62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2022 美國嬰兒配方奶粉事件暴露嚴重盲點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B1E3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57200" cy="5143500"/>
          </a:xfrm>
          <a:prstGeom prst="rect">
            <a:avLst/>
          </a:prstGeom>
          <a:solidFill>
            <a:srgbClr val="009E8C"/>
          </a:solidFill>
          <a:ln w="12700">
            <a:solidFill>
              <a:srgbClr val="009E8C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" name="Shape 1"/>
          <p:cNvSpPr/>
          <p:nvPr/>
        </p:nvSpPr>
        <p:spPr>
          <a:xfrm>
            <a:off x="457200" y="1920240"/>
            <a:ext cx="8686800" cy="45720"/>
          </a:xfrm>
          <a:prstGeom prst="rect">
            <a:avLst/>
          </a:prstGeom>
          <a:solidFill>
            <a:srgbClr val="00C9B1"/>
          </a:solidFill>
          <a:ln w="12700">
            <a:solidFill>
              <a:srgbClr val="00C9B1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4" name="Text 2"/>
          <p:cNvSpPr/>
          <p:nvPr/>
        </p:nvSpPr>
        <p:spPr>
          <a:xfrm>
            <a:off x="685800" y="77724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00C9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 03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685800" y="1188720"/>
            <a:ext cx="80467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區塊鏈解決方案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685800" y="2286000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技術架構 · 病歷管理 · 藥品溯源 · 智能合約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321040" y="4892040"/>
            <a:ext cx="640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/ 30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B1E3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57200" cy="5143500"/>
          </a:xfrm>
          <a:prstGeom prst="rect">
            <a:avLst/>
          </a:prstGeom>
          <a:solidFill>
            <a:srgbClr val="009E8C"/>
          </a:solidFill>
          <a:ln w="12700">
            <a:solidFill>
              <a:srgbClr val="009E8C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" name="Text 1"/>
          <p:cNvSpPr/>
          <p:nvPr/>
        </p:nvSpPr>
        <p:spPr>
          <a:xfrm>
            <a:off x="685800" y="20116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dirty="0">
                <a:solidFill>
                  <a:srgbClr val="00C9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為何選擇區塊鏈？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685800" y="914400"/>
            <a:ext cx="8229600" cy="1143000"/>
          </a:xfrm>
          <a:prstGeom prst="rect">
            <a:avLst/>
          </a:prstGeom>
          <a:solidFill>
            <a:srgbClr val="122840"/>
          </a:solidFill>
          <a:ln w="9525">
            <a:solidFill>
              <a:srgbClr val="009E8C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5" name="Text 3"/>
          <p:cNvSpPr/>
          <p:nvPr/>
        </p:nvSpPr>
        <p:spPr>
          <a:xfrm>
            <a:off x="804672" y="914400"/>
            <a:ext cx="6400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4A2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554480" y="1024128"/>
            <a:ext cx="3657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不可竄改性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1554480" y="1481328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09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Immutability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303520" y="1005840"/>
            <a:ext cx="34747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所有寫入操作形成不可回溯的時間戳鏈，杜絕病歷造假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85800" y="2240280"/>
            <a:ext cx="8229600" cy="1143000"/>
          </a:xfrm>
          <a:prstGeom prst="rect">
            <a:avLst/>
          </a:prstGeom>
          <a:solidFill>
            <a:srgbClr val="122840"/>
          </a:solidFill>
          <a:ln w="9525">
            <a:solidFill>
              <a:srgbClr val="009E8C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0" name="Text 8"/>
          <p:cNvSpPr/>
          <p:nvPr/>
        </p:nvSpPr>
        <p:spPr>
          <a:xfrm>
            <a:off x="804672" y="2240280"/>
            <a:ext cx="6400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4A2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1554480" y="2350008"/>
            <a:ext cx="3657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去中心化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1554480" y="2807208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09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Decentralization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303520" y="2331720"/>
            <a:ext cx="34747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無單點伺服器，多節點冗餘，消除高價值攻擊目標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85800" y="3566160"/>
            <a:ext cx="8229600" cy="1143000"/>
          </a:xfrm>
          <a:prstGeom prst="rect">
            <a:avLst/>
          </a:prstGeom>
          <a:solidFill>
            <a:srgbClr val="122840"/>
          </a:solidFill>
          <a:ln w="9525">
            <a:solidFill>
              <a:srgbClr val="009E8C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5" name="Text 13"/>
          <p:cNvSpPr/>
          <p:nvPr/>
        </p:nvSpPr>
        <p:spPr>
          <a:xfrm>
            <a:off x="804672" y="3566160"/>
            <a:ext cx="6400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4A2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1554480" y="3675888"/>
            <a:ext cx="3657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智能合約自動化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1554480" y="4133088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09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Contract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5303520" y="3657600"/>
            <a:ext cx="34747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業務邏輯程式化，授權、溯源、理賠自動執行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8321040" y="4892040"/>
            <a:ext cx="640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/ 30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09E8C"/>
          </a:solidFill>
          <a:ln w="12700">
            <a:solidFill>
              <a:srgbClr val="009E8C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" name="Text 1"/>
          <p:cNvSpPr/>
          <p:nvPr/>
        </p:nvSpPr>
        <p:spPr>
          <a:xfrm>
            <a:off x="457200" y="201168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0B1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核心架構：Hyperledger Fabric 聯盟鏈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877824"/>
            <a:ext cx="8229600" cy="36576"/>
          </a:xfrm>
          <a:prstGeom prst="rect">
            <a:avLst/>
          </a:prstGeom>
          <a:solidFill>
            <a:srgbClr val="009E8C"/>
          </a:solidFill>
          <a:ln w="12700">
            <a:solidFill>
              <a:srgbClr val="009E8C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5" name="Text 3"/>
          <p:cNvSpPr/>
          <p:nvPr/>
        </p:nvSpPr>
        <p:spPr>
          <a:xfrm>
            <a:off x="8321040" y="4892040"/>
            <a:ext cx="640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/ 30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457200" y="1051560"/>
            <a:ext cx="2633472" cy="3383280"/>
          </a:xfrm>
          <a:prstGeom prst="rect">
            <a:avLst/>
          </a:prstGeom>
          <a:solidFill>
            <a:srgbClr val="FFFFFF"/>
          </a:solidFill>
          <a:ln w="9525">
            <a:solidFill>
              <a:srgbClr val="D8E3EC"/>
            </a:solidFill>
            <a:prstDash val="solid"/>
          </a:ln>
          <a:effectLst>
            <a:outerShdw blurRad="1270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7" name="Shape 5"/>
          <p:cNvSpPr/>
          <p:nvPr/>
        </p:nvSpPr>
        <p:spPr>
          <a:xfrm>
            <a:off x="457200" y="1051560"/>
            <a:ext cx="2633472" cy="411480"/>
          </a:xfrm>
          <a:prstGeom prst="rect">
            <a:avLst/>
          </a:prstGeom>
          <a:solidFill>
            <a:srgbClr val="1460AA"/>
          </a:solidFill>
          <a:ln w="12700">
            <a:solidFill>
              <a:srgbClr val="1460AA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8" name="Text 6"/>
          <p:cNvSpPr/>
          <p:nvPr/>
        </p:nvSpPr>
        <p:spPr>
          <a:xfrm>
            <a:off x="457200" y="1051560"/>
            <a:ext cx="26334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許可制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566928" y="1527048"/>
            <a:ext cx="241401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0B1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許可制節點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66928" y="1984248"/>
            <a:ext cx="2414016" cy="23591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50" dirty="0">
                <a:solidFill>
                  <a:srgbClr val="4A62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僅授權醫療機構、製藥廠、監管單位加入</a:t>
            </a:r>
            <a:endParaRPr lang="en-US" sz="1250" dirty="0"/>
          </a:p>
          <a:p>
            <a:pPr marL="0" indent="0" algn="l">
              <a:buNone/>
            </a:pPr>
            <a:r>
              <a:rPr lang="en-US" sz="1250" dirty="0">
                <a:solidFill>
                  <a:srgbClr val="4A62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兼顧開放性與隱私管控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3255264" y="1051560"/>
            <a:ext cx="2633472" cy="3383280"/>
          </a:xfrm>
          <a:prstGeom prst="rect">
            <a:avLst/>
          </a:prstGeom>
          <a:solidFill>
            <a:srgbClr val="FFFFFF"/>
          </a:solidFill>
          <a:ln w="9525">
            <a:solidFill>
              <a:srgbClr val="D8E3EC"/>
            </a:solidFill>
            <a:prstDash val="solid"/>
          </a:ln>
          <a:effectLst>
            <a:outerShdw blurRad="1270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12" name="Shape 10"/>
          <p:cNvSpPr/>
          <p:nvPr/>
        </p:nvSpPr>
        <p:spPr>
          <a:xfrm>
            <a:off x="3255264" y="1051560"/>
            <a:ext cx="2633472" cy="411480"/>
          </a:xfrm>
          <a:prstGeom prst="rect">
            <a:avLst/>
          </a:prstGeom>
          <a:solidFill>
            <a:srgbClr val="009E8C"/>
          </a:solidFill>
          <a:ln w="12700">
            <a:solidFill>
              <a:srgbClr val="009E8C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3" name="Text 11"/>
          <p:cNvSpPr/>
          <p:nvPr/>
        </p:nvSpPr>
        <p:spPr>
          <a:xfrm>
            <a:off x="3255264" y="1051560"/>
            <a:ext cx="26334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共識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3364992" y="1527048"/>
            <a:ext cx="241401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0B1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高效共識機制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3364992" y="1984248"/>
            <a:ext cx="2414016" cy="23591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50" dirty="0">
                <a:solidFill>
                  <a:srgbClr val="4A62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PBFT 或 Raft 演算法</a:t>
            </a:r>
            <a:endParaRPr lang="en-US" sz="1250" dirty="0"/>
          </a:p>
          <a:p>
            <a:pPr marL="0" indent="0" algn="l">
              <a:buNone/>
            </a:pPr>
            <a:r>
              <a:rPr lang="en-US" sz="1250" dirty="0">
                <a:solidFill>
                  <a:srgbClr val="4A62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相較公鏈大幅提升交易吞吐量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053328" y="1051560"/>
            <a:ext cx="2633472" cy="3383280"/>
          </a:xfrm>
          <a:prstGeom prst="rect">
            <a:avLst/>
          </a:prstGeom>
          <a:solidFill>
            <a:srgbClr val="FFFFFF"/>
          </a:solidFill>
          <a:ln w="9525">
            <a:solidFill>
              <a:srgbClr val="D8E3EC"/>
            </a:solidFill>
            <a:prstDash val="solid"/>
          </a:ln>
          <a:effectLst>
            <a:outerShdw blurRad="1270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17" name="Shape 15"/>
          <p:cNvSpPr/>
          <p:nvPr/>
        </p:nvSpPr>
        <p:spPr>
          <a:xfrm>
            <a:off x="6053328" y="1051560"/>
            <a:ext cx="2633472" cy="411480"/>
          </a:xfrm>
          <a:prstGeom prst="rect">
            <a:avLst/>
          </a:prstGeom>
          <a:solidFill>
            <a:srgbClr val="1460AA"/>
          </a:solidFill>
          <a:ln w="12700">
            <a:solidFill>
              <a:srgbClr val="1460AA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8" name="Text 16"/>
          <p:cNvSpPr/>
          <p:nvPr/>
        </p:nvSpPr>
        <p:spPr>
          <a:xfrm>
            <a:off x="6053328" y="1051560"/>
            <a:ext cx="26334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隱私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6163056" y="1527048"/>
            <a:ext cx="241401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0B1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隱私保護技術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6163056" y="1984248"/>
            <a:ext cx="2414016" cy="23591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50" dirty="0">
                <a:solidFill>
                  <a:srgbClr val="4A62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零知識證明（ZKP）</a:t>
            </a:r>
            <a:endParaRPr lang="en-US" sz="1250" dirty="0"/>
          </a:p>
          <a:p>
            <a:pPr marL="0" indent="0" algn="l">
              <a:buNone/>
            </a:pPr>
            <a:r>
              <a:rPr lang="en-US" sz="1250" dirty="0">
                <a:solidFill>
                  <a:srgbClr val="4A62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同態加密 / 私有 Channel 機制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457200" y="4617720"/>
            <a:ext cx="8229600" cy="384048"/>
          </a:xfrm>
          <a:prstGeom prst="rect">
            <a:avLst/>
          </a:prstGeom>
          <a:solidFill>
            <a:srgbClr val="D0F4EE"/>
          </a:solidFill>
          <a:ln w="9525">
            <a:solidFill>
              <a:srgbClr val="009E8C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2" name="Text 20"/>
          <p:cNvSpPr/>
          <p:nvPr/>
        </p:nvSpPr>
        <p:spPr>
          <a:xfrm>
            <a:off x="566928" y="4617720"/>
            <a:ext cx="801014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007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Hyperledger Fabric v3.1.4（2026-02-23） · BFT 排序服務首個 GA 版 v3.0（2024-09-16）</a:t>
            </a:r>
            <a:endParaRPr lang="en-US" sz="11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09E8C"/>
          </a:solidFill>
          <a:ln w="12700">
            <a:solidFill>
              <a:srgbClr val="009E8C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" name="Text 1"/>
          <p:cNvSpPr/>
          <p:nvPr/>
        </p:nvSpPr>
        <p:spPr>
          <a:xfrm>
            <a:off x="457200" y="201168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0B1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病歷管理：區塊鏈解決方案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877824"/>
            <a:ext cx="8229600" cy="36576"/>
          </a:xfrm>
          <a:prstGeom prst="rect">
            <a:avLst/>
          </a:prstGeom>
          <a:solidFill>
            <a:srgbClr val="009E8C"/>
          </a:solidFill>
          <a:ln w="12700">
            <a:solidFill>
              <a:srgbClr val="009E8C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5" name="Text 3"/>
          <p:cNvSpPr/>
          <p:nvPr/>
        </p:nvSpPr>
        <p:spPr>
          <a:xfrm>
            <a:off x="8321040" y="4892040"/>
            <a:ext cx="640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 / 30</a:t>
            </a:r>
            <a:endParaRPr lang="en-US" sz="900" dirty="0"/>
          </a:p>
        </p:txBody>
      </p:sp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05840"/>
          <a:ext cx="8229600" cy="3401568"/>
        </p:xfrm>
        <a:graphic>
          <a:graphicData uri="http://schemas.openxmlformats.org/drawingml/2006/table">
            <a:tbl>
              <a:tblPr/>
              <a:tblGrid>
                <a:gridCol w="1828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4747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9260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6692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問題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0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E3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解決方案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0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E3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關鍵技術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0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E3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B1E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資料孤島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0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0B1E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分散式帳本跨院共享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0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0B1E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Hyperledger Fabric Channel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0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B1E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資安漏洞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0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1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0B1E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無中心伺服器，多節點冗餘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0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1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0B1E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Al-Khasawneh et al. 五元件框架 [4]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0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1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B1E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資料竄改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0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0B1E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不可竄改時間戳鏈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0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0B1E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Ettaloui 系統性綜述確認 [5]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0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B1E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授權控制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0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1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0B1E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ABE 細粒度存取 + 鏈上日誌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0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1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0B1E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EHRChain, Nature 2025 [6]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0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1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B1E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隱私洩露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0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0B1E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IPFS 存原始資料，鏈上僅存雜湊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0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0B1E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IPFS + ABE 混合架構 [6]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0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09E8C"/>
          </a:solidFill>
          <a:ln w="12700">
            <a:solidFill>
              <a:srgbClr val="009E8C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" name="Text 1"/>
          <p:cNvSpPr/>
          <p:nvPr/>
        </p:nvSpPr>
        <p:spPr>
          <a:xfrm>
            <a:off x="457200" y="201168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0B1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藥品供應鏈：端對端可信溯源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877824"/>
            <a:ext cx="8229600" cy="36576"/>
          </a:xfrm>
          <a:prstGeom prst="rect">
            <a:avLst/>
          </a:prstGeom>
          <a:solidFill>
            <a:srgbClr val="009E8C"/>
          </a:solidFill>
          <a:ln w="12700">
            <a:solidFill>
              <a:srgbClr val="009E8C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5" name="Text 3"/>
          <p:cNvSpPr/>
          <p:nvPr/>
        </p:nvSpPr>
        <p:spPr>
          <a:xfrm>
            <a:off x="8321040" y="4892040"/>
            <a:ext cx="640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 / 30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402336" y="1545336"/>
            <a:ext cx="1389888" cy="749808"/>
          </a:xfrm>
          <a:prstGeom prst="rect">
            <a:avLst/>
          </a:prstGeom>
          <a:solidFill>
            <a:srgbClr val="009E8C"/>
          </a:solidFill>
          <a:ln w="12700">
            <a:solidFill>
              <a:srgbClr val="009E8C"/>
            </a:solidFill>
            <a:prstDash val="solid"/>
          </a:ln>
          <a:effectLst>
            <a:outerShdw blurRad="1270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7" name="Text 5"/>
          <p:cNvSpPr/>
          <p:nvPr/>
        </p:nvSpPr>
        <p:spPr>
          <a:xfrm>
            <a:off x="402336" y="1545336"/>
            <a:ext cx="138988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原料藥廠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02336" y="2350008"/>
            <a:ext cx="138988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4A62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mintDrug()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1792224" y="1737360"/>
            <a:ext cx="3474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09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2139696" y="1545336"/>
            <a:ext cx="1389888" cy="749808"/>
          </a:xfrm>
          <a:prstGeom prst="rect">
            <a:avLst/>
          </a:prstGeom>
          <a:solidFill>
            <a:srgbClr val="1460AA"/>
          </a:solidFill>
          <a:ln w="12700">
            <a:solidFill>
              <a:srgbClr val="1460AA"/>
            </a:solidFill>
            <a:prstDash val="solid"/>
          </a:ln>
          <a:effectLst>
            <a:outerShdw blurRad="1270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11" name="Text 9"/>
          <p:cNvSpPr/>
          <p:nvPr/>
        </p:nvSpPr>
        <p:spPr>
          <a:xfrm>
            <a:off x="2139696" y="1545336"/>
            <a:ext cx="138988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製藥廠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2139696" y="2350008"/>
            <a:ext cx="138988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4A62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批號上鏈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529584" y="1737360"/>
            <a:ext cx="3474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09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3877056" y="1545336"/>
            <a:ext cx="1389888" cy="749808"/>
          </a:xfrm>
          <a:prstGeom prst="rect">
            <a:avLst/>
          </a:prstGeom>
          <a:solidFill>
            <a:srgbClr val="1460AA"/>
          </a:solidFill>
          <a:ln w="12700">
            <a:solidFill>
              <a:srgbClr val="1460AA"/>
            </a:solidFill>
            <a:prstDash val="solid"/>
          </a:ln>
          <a:effectLst>
            <a:outerShdw blurRad="1270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15" name="Text 13"/>
          <p:cNvSpPr/>
          <p:nvPr/>
        </p:nvSpPr>
        <p:spPr>
          <a:xfrm>
            <a:off x="3877056" y="1545336"/>
            <a:ext cx="138988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批發商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3877056" y="2350008"/>
            <a:ext cx="138988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4A62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transferDrug()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4A62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冷鏈溫控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5266944" y="1737360"/>
            <a:ext cx="3474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09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5614416" y="1545336"/>
            <a:ext cx="1389888" cy="749808"/>
          </a:xfrm>
          <a:prstGeom prst="rect">
            <a:avLst/>
          </a:prstGeom>
          <a:solidFill>
            <a:srgbClr val="1460AA"/>
          </a:solidFill>
          <a:ln w="12700">
            <a:solidFill>
              <a:srgbClr val="1460AA"/>
            </a:solidFill>
            <a:prstDash val="solid"/>
          </a:ln>
          <a:effectLst>
            <a:outerShdw blurRad="1270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19" name="Text 17"/>
          <p:cNvSpPr/>
          <p:nvPr/>
        </p:nvSpPr>
        <p:spPr>
          <a:xfrm>
            <a:off x="5614416" y="1545336"/>
            <a:ext cx="138988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藥局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5614416" y="2350008"/>
            <a:ext cx="138988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4A62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verifyDrug()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4A62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QR 驗真偽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7004304" y="1737360"/>
            <a:ext cx="3474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09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22" name="Shape 20"/>
          <p:cNvSpPr/>
          <p:nvPr/>
        </p:nvSpPr>
        <p:spPr>
          <a:xfrm>
            <a:off x="7351776" y="1545336"/>
            <a:ext cx="1389888" cy="749808"/>
          </a:xfrm>
          <a:prstGeom prst="rect">
            <a:avLst/>
          </a:prstGeom>
          <a:solidFill>
            <a:srgbClr val="009E8C"/>
          </a:solidFill>
          <a:ln w="12700">
            <a:solidFill>
              <a:srgbClr val="009E8C"/>
            </a:solidFill>
            <a:prstDash val="solid"/>
          </a:ln>
          <a:effectLst>
            <a:outerShdw blurRad="1270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23" name="Text 21"/>
          <p:cNvSpPr/>
          <p:nvPr/>
        </p:nvSpPr>
        <p:spPr>
          <a:xfrm>
            <a:off x="7351776" y="1545336"/>
            <a:ext cx="138988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患者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7351776" y="2350008"/>
            <a:ext cx="138988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4A62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完整溯源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4A62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即時查詢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57200" y="3246120"/>
            <a:ext cx="8229600" cy="1664208"/>
          </a:xfrm>
          <a:prstGeom prst="rect">
            <a:avLst/>
          </a:prstGeom>
          <a:solidFill>
            <a:srgbClr val="D0F4EE"/>
          </a:solidFill>
          <a:ln w="9525">
            <a:solidFill>
              <a:srgbClr val="009E8C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6" name="Text 24"/>
          <p:cNvSpPr/>
          <p:nvPr/>
        </p:nvSpPr>
        <p:spPr>
          <a:xfrm>
            <a:off x="594360" y="3310128"/>
            <a:ext cx="7955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7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學術驗證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594360" y="3657600"/>
            <a:ext cx="795528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0B1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PharmChain（Decision Analytics Journal, 2025）：場景導向框架，Ethereum + Remix 驗證 [7]</a:t>
            </a:r>
            <a:endParaRPr lang="en-US" sz="14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0B1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Searchable PharmaChain（Cluster Computing, 2024）：可搜尋加密設計，保護供應鏈隱私 [9]</a:t>
            </a:r>
            <a:endParaRPr lang="en-US" sz="14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09E8C"/>
          </a:solidFill>
          <a:ln w="12700">
            <a:solidFill>
              <a:srgbClr val="009E8C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" name="Text 1"/>
          <p:cNvSpPr/>
          <p:nvPr/>
        </p:nvSpPr>
        <p:spPr>
          <a:xfrm>
            <a:off x="457200" y="201168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0B1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智能合約：四大核心模組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877824"/>
            <a:ext cx="8229600" cy="36576"/>
          </a:xfrm>
          <a:prstGeom prst="rect">
            <a:avLst/>
          </a:prstGeom>
          <a:solidFill>
            <a:srgbClr val="009E8C"/>
          </a:solidFill>
          <a:ln w="12700">
            <a:solidFill>
              <a:srgbClr val="009E8C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5" name="Text 3"/>
          <p:cNvSpPr/>
          <p:nvPr/>
        </p:nvSpPr>
        <p:spPr>
          <a:xfrm>
            <a:off x="8321040" y="4892040"/>
            <a:ext cx="640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 / 30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457200" y="1051560"/>
            <a:ext cx="4069080" cy="1783080"/>
          </a:xfrm>
          <a:prstGeom prst="rect">
            <a:avLst/>
          </a:prstGeom>
          <a:solidFill>
            <a:srgbClr val="FFFFFF"/>
          </a:solidFill>
          <a:ln w="9525">
            <a:solidFill>
              <a:srgbClr val="D8E3EC"/>
            </a:solidFill>
            <a:prstDash val="solid"/>
          </a:ln>
          <a:effectLst>
            <a:outerShdw blurRad="1270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7" name="Shape 5"/>
          <p:cNvSpPr/>
          <p:nvPr/>
        </p:nvSpPr>
        <p:spPr>
          <a:xfrm>
            <a:off x="457200" y="1051560"/>
            <a:ext cx="4069080" cy="420624"/>
          </a:xfrm>
          <a:prstGeom prst="rect">
            <a:avLst/>
          </a:prstGeom>
          <a:solidFill>
            <a:srgbClr val="1460AA"/>
          </a:solidFill>
          <a:ln w="12700">
            <a:solidFill>
              <a:srgbClr val="1460AA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8" name="Text 6"/>
          <p:cNvSpPr/>
          <p:nvPr/>
        </p:nvSpPr>
        <p:spPr>
          <a:xfrm>
            <a:off x="548640" y="1051560"/>
            <a:ext cx="3886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存取  AccessControlContract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566928" y="1545336"/>
            <a:ext cx="3840480" cy="1216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4A62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管理患者授權關係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4A62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設定授權機構與有效期限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709160" y="1051560"/>
            <a:ext cx="4069080" cy="1783080"/>
          </a:xfrm>
          <a:prstGeom prst="rect">
            <a:avLst/>
          </a:prstGeom>
          <a:solidFill>
            <a:srgbClr val="FFFFFF"/>
          </a:solidFill>
          <a:ln w="9525">
            <a:solidFill>
              <a:srgbClr val="D8E3EC"/>
            </a:solidFill>
            <a:prstDash val="solid"/>
          </a:ln>
          <a:effectLst>
            <a:outerShdw blurRad="1270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11" name="Shape 9"/>
          <p:cNvSpPr/>
          <p:nvPr/>
        </p:nvSpPr>
        <p:spPr>
          <a:xfrm>
            <a:off x="4709160" y="1051560"/>
            <a:ext cx="4069080" cy="420624"/>
          </a:xfrm>
          <a:prstGeom prst="rect">
            <a:avLst/>
          </a:prstGeom>
          <a:solidFill>
            <a:srgbClr val="009E8C"/>
          </a:solidFill>
          <a:ln w="12700">
            <a:solidFill>
              <a:srgbClr val="009E8C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2" name="Text 10"/>
          <p:cNvSpPr/>
          <p:nvPr/>
        </p:nvSpPr>
        <p:spPr>
          <a:xfrm>
            <a:off x="4800600" y="1051560"/>
            <a:ext cx="3886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病歷  MedicalRecordContract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4818888" y="1545336"/>
            <a:ext cx="3840480" cy="1216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4A62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儲存 IPFS 雜湊值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4A62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完整存取稽核日誌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457200" y="3017520"/>
            <a:ext cx="4069080" cy="1783080"/>
          </a:xfrm>
          <a:prstGeom prst="rect">
            <a:avLst/>
          </a:prstGeom>
          <a:solidFill>
            <a:srgbClr val="FFFFFF"/>
          </a:solidFill>
          <a:ln w="9525">
            <a:solidFill>
              <a:srgbClr val="D8E3EC"/>
            </a:solidFill>
            <a:prstDash val="solid"/>
          </a:ln>
          <a:effectLst>
            <a:outerShdw blurRad="1270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15" name="Shape 13"/>
          <p:cNvSpPr/>
          <p:nvPr/>
        </p:nvSpPr>
        <p:spPr>
          <a:xfrm>
            <a:off x="457200" y="3017520"/>
            <a:ext cx="4069080" cy="420624"/>
          </a:xfrm>
          <a:prstGeom prst="rect">
            <a:avLst/>
          </a:prstGeom>
          <a:solidFill>
            <a:srgbClr val="1460AA"/>
          </a:solidFill>
          <a:ln w="12700">
            <a:solidFill>
              <a:srgbClr val="1460AA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6" name="Text 14"/>
          <p:cNvSpPr/>
          <p:nvPr/>
        </p:nvSpPr>
        <p:spPr>
          <a:xfrm>
            <a:off x="548640" y="3017520"/>
            <a:ext cx="3886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藥品  DrugTracingContract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566928" y="3511296"/>
            <a:ext cx="3840480" cy="1216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4A62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藥品批次生命週期管理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4A62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mintDrug / transferDrug / recallDrug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4709160" y="3017520"/>
            <a:ext cx="4069080" cy="1783080"/>
          </a:xfrm>
          <a:prstGeom prst="rect">
            <a:avLst/>
          </a:prstGeom>
          <a:solidFill>
            <a:srgbClr val="FFFFFF"/>
          </a:solidFill>
          <a:ln w="9525">
            <a:solidFill>
              <a:srgbClr val="D8E3EC"/>
            </a:solidFill>
            <a:prstDash val="solid"/>
          </a:ln>
          <a:effectLst>
            <a:outerShdw blurRad="1270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19" name="Shape 17"/>
          <p:cNvSpPr/>
          <p:nvPr/>
        </p:nvSpPr>
        <p:spPr>
          <a:xfrm>
            <a:off x="4709160" y="3017520"/>
            <a:ext cx="4069080" cy="420624"/>
          </a:xfrm>
          <a:prstGeom prst="rect">
            <a:avLst/>
          </a:prstGeom>
          <a:solidFill>
            <a:srgbClr val="009E8C"/>
          </a:solidFill>
          <a:ln w="12700">
            <a:solidFill>
              <a:srgbClr val="009E8C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0" name="Text 18"/>
          <p:cNvSpPr/>
          <p:nvPr/>
        </p:nvSpPr>
        <p:spPr>
          <a:xfrm>
            <a:off x="4800600" y="3017520"/>
            <a:ext cx="3886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理賠  InsuranceClaimContract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4818888" y="3511296"/>
            <a:ext cx="3840480" cy="1216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4A62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自動驗證醫療紀錄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4A62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觸發保險理賠，減少人工審核</a:t>
            </a:r>
            <a:endParaRPr lang="en-US" sz="13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0B1E3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57200" cy="5143500"/>
          </a:xfrm>
          <a:prstGeom prst="rect">
            <a:avLst/>
          </a:prstGeom>
          <a:solidFill>
            <a:srgbClr val="009E8C"/>
          </a:solidFill>
          <a:ln w="12700">
            <a:solidFill>
              <a:srgbClr val="009E8C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" name="Shape 1"/>
          <p:cNvSpPr/>
          <p:nvPr/>
        </p:nvSpPr>
        <p:spPr>
          <a:xfrm>
            <a:off x="457200" y="1920240"/>
            <a:ext cx="8686800" cy="45720"/>
          </a:xfrm>
          <a:prstGeom prst="rect">
            <a:avLst/>
          </a:prstGeom>
          <a:solidFill>
            <a:srgbClr val="00C9B1"/>
          </a:solidFill>
          <a:ln w="12700">
            <a:solidFill>
              <a:srgbClr val="00C9B1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4" name="Text 2"/>
          <p:cNvSpPr/>
          <p:nvPr/>
        </p:nvSpPr>
        <p:spPr>
          <a:xfrm>
            <a:off x="685800" y="77724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00C9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 04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685800" y="1188720"/>
            <a:ext cx="80467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技術實作 PoC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685800" y="2286000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Remix IDE · Solidity · MetaMask · Sepolia Testnet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321040" y="4892040"/>
            <a:ext cx="640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/ 30</a:t>
            </a:r>
            <a:endParaRPr lang="en-US" sz="9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09E8C"/>
          </a:solidFill>
          <a:ln w="12700">
            <a:solidFill>
              <a:srgbClr val="009E8C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" name="Text 1"/>
          <p:cNvSpPr/>
          <p:nvPr/>
        </p:nvSpPr>
        <p:spPr>
          <a:xfrm>
            <a:off x="457200" y="201168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0B1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PoC 技術環境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877824"/>
            <a:ext cx="8229600" cy="36576"/>
          </a:xfrm>
          <a:prstGeom prst="rect">
            <a:avLst/>
          </a:prstGeom>
          <a:solidFill>
            <a:srgbClr val="009E8C"/>
          </a:solidFill>
          <a:ln w="12700">
            <a:solidFill>
              <a:srgbClr val="009E8C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5" name="Text 3"/>
          <p:cNvSpPr/>
          <p:nvPr/>
        </p:nvSpPr>
        <p:spPr>
          <a:xfrm>
            <a:off x="8321040" y="4892040"/>
            <a:ext cx="640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 / 30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457200" y="1051560"/>
            <a:ext cx="8229600" cy="685800"/>
          </a:xfrm>
          <a:prstGeom prst="rect">
            <a:avLst/>
          </a:prstGeom>
          <a:solidFill>
            <a:srgbClr val="FFFFFF"/>
          </a:solidFill>
          <a:ln w="9525">
            <a:solidFill>
              <a:srgbClr val="D8E3EC"/>
            </a:solidFill>
            <a:prstDash val="solid"/>
          </a:ln>
          <a:effectLst>
            <a:outerShdw blurRad="1270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7" name="Shape 5"/>
          <p:cNvSpPr/>
          <p:nvPr/>
        </p:nvSpPr>
        <p:spPr>
          <a:xfrm>
            <a:off x="457200" y="1051560"/>
            <a:ext cx="64008" cy="685800"/>
          </a:xfrm>
          <a:prstGeom prst="rect">
            <a:avLst/>
          </a:prstGeom>
          <a:solidFill>
            <a:srgbClr val="1460AA"/>
          </a:solidFill>
          <a:ln w="12700">
            <a:solidFill>
              <a:srgbClr val="1460AA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8" name="Text 6"/>
          <p:cNvSpPr/>
          <p:nvPr/>
        </p:nvSpPr>
        <p:spPr>
          <a:xfrm>
            <a:off x="640080" y="1179576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1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Remix IDE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3749040" y="1179576"/>
            <a:ext cx="4754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4A62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Solidity 智能合約開發、編譯與一鍵部署環境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457200" y="1847088"/>
            <a:ext cx="8229600" cy="685800"/>
          </a:xfrm>
          <a:prstGeom prst="rect">
            <a:avLst/>
          </a:prstGeom>
          <a:solidFill>
            <a:srgbClr val="FFFFFF"/>
          </a:solidFill>
          <a:ln w="9525">
            <a:solidFill>
              <a:srgbClr val="D8E3EC"/>
            </a:solidFill>
            <a:prstDash val="solid"/>
          </a:ln>
          <a:effectLst>
            <a:outerShdw blurRad="1270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11" name="Shape 9"/>
          <p:cNvSpPr/>
          <p:nvPr/>
        </p:nvSpPr>
        <p:spPr>
          <a:xfrm>
            <a:off x="457200" y="1847088"/>
            <a:ext cx="64008" cy="685800"/>
          </a:xfrm>
          <a:prstGeom prst="rect">
            <a:avLst/>
          </a:prstGeom>
          <a:solidFill>
            <a:srgbClr val="009E8C"/>
          </a:solidFill>
          <a:ln w="12700">
            <a:solidFill>
              <a:srgbClr val="009E8C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2" name="Text 10"/>
          <p:cNvSpPr/>
          <p:nvPr/>
        </p:nvSpPr>
        <p:spPr>
          <a:xfrm>
            <a:off x="640080" y="1975104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1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Solidity ^0.8.0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3749040" y="1975104"/>
            <a:ext cx="4754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4A62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智能合約撰寫語言，EVM 相容，兩份合約均以此實作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457200" y="2642616"/>
            <a:ext cx="8229600" cy="685800"/>
          </a:xfrm>
          <a:prstGeom prst="rect">
            <a:avLst/>
          </a:prstGeom>
          <a:solidFill>
            <a:srgbClr val="FFFFFF"/>
          </a:solidFill>
          <a:ln w="9525">
            <a:solidFill>
              <a:srgbClr val="D8E3EC"/>
            </a:solidFill>
            <a:prstDash val="solid"/>
          </a:ln>
          <a:effectLst>
            <a:outerShdw blurRad="1270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15" name="Shape 13"/>
          <p:cNvSpPr/>
          <p:nvPr/>
        </p:nvSpPr>
        <p:spPr>
          <a:xfrm>
            <a:off x="457200" y="2642616"/>
            <a:ext cx="64008" cy="685800"/>
          </a:xfrm>
          <a:prstGeom prst="rect">
            <a:avLst/>
          </a:prstGeom>
          <a:solidFill>
            <a:srgbClr val="1460AA"/>
          </a:solidFill>
          <a:ln w="12700">
            <a:solidFill>
              <a:srgbClr val="1460AA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6" name="Text 14"/>
          <p:cNvSpPr/>
          <p:nvPr/>
        </p:nvSpPr>
        <p:spPr>
          <a:xfrm>
            <a:off x="640080" y="2770632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1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MetaMask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3749040" y="2770632"/>
            <a:ext cx="4754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4A62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瀏覽器錢包，簽署交易並連接 Remix Deploy 環境</a:t>
            </a:r>
            <a:endParaRPr lang="en-US" sz="1350" dirty="0"/>
          </a:p>
        </p:txBody>
      </p:sp>
      <p:sp>
        <p:nvSpPr>
          <p:cNvPr id="18" name="Shape 16"/>
          <p:cNvSpPr/>
          <p:nvPr/>
        </p:nvSpPr>
        <p:spPr>
          <a:xfrm>
            <a:off x="457200" y="3438144"/>
            <a:ext cx="8229600" cy="685800"/>
          </a:xfrm>
          <a:prstGeom prst="rect">
            <a:avLst/>
          </a:prstGeom>
          <a:solidFill>
            <a:srgbClr val="FFFFFF"/>
          </a:solidFill>
          <a:ln w="9525">
            <a:solidFill>
              <a:srgbClr val="D8E3EC"/>
            </a:solidFill>
            <a:prstDash val="solid"/>
          </a:ln>
          <a:effectLst>
            <a:outerShdw blurRad="1270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19" name="Shape 17"/>
          <p:cNvSpPr/>
          <p:nvPr/>
        </p:nvSpPr>
        <p:spPr>
          <a:xfrm>
            <a:off x="457200" y="3438144"/>
            <a:ext cx="64008" cy="685800"/>
          </a:xfrm>
          <a:prstGeom prst="rect">
            <a:avLst/>
          </a:prstGeom>
          <a:solidFill>
            <a:srgbClr val="009E8C"/>
          </a:solidFill>
          <a:ln w="12700">
            <a:solidFill>
              <a:srgbClr val="009E8C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0" name="Text 18"/>
          <p:cNvSpPr/>
          <p:nvPr/>
        </p:nvSpPr>
        <p:spPr>
          <a:xfrm>
            <a:off x="640080" y="3566160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1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Sepolia Testnet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3749040" y="3566160"/>
            <a:ext cx="4754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4A62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Ethereum 公開測試網路，合約部署與功能驗證目標鏈</a:t>
            </a:r>
            <a:endParaRPr lang="en-US" sz="135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09E8C"/>
          </a:solidFill>
          <a:ln w="12700">
            <a:solidFill>
              <a:srgbClr val="009E8C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" name="Text 1"/>
          <p:cNvSpPr/>
          <p:nvPr/>
        </p:nvSpPr>
        <p:spPr>
          <a:xfrm>
            <a:off x="457200" y="201168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0B1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合約一：MedicalRecordAccess.sol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877824"/>
            <a:ext cx="8229600" cy="36576"/>
          </a:xfrm>
          <a:prstGeom prst="rect">
            <a:avLst/>
          </a:prstGeom>
          <a:solidFill>
            <a:srgbClr val="009E8C"/>
          </a:solidFill>
          <a:ln w="12700">
            <a:solidFill>
              <a:srgbClr val="009E8C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5" name="Text 3"/>
          <p:cNvSpPr/>
          <p:nvPr/>
        </p:nvSpPr>
        <p:spPr>
          <a:xfrm>
            <a:off x="8321040" y="4892040"/>
            <a:ext cx="640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 / 30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457200" y="1005840"/>
            <a:ext cx="3931920" cy="3886200"/>
          </a:xfrm>
          <a:prstGeom prst="rect">
            <a:avLst/>
          </a:prstGeom>
          <a:solidFill>
            <a:srgbClr val="0B1E35"/>
          </a:solidFill>
          <a:ln w="12700">
            <a:solidFill>
              <a:srgbClr val="0B1E35"/>
            </a:solidFill>
            <a:prstDash val="solid"/>
          </a:ln>
          <a:effectLst>
            <a:outerShdw blurRad="1270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7" name="Text 5"/>
          <p:cNvSpPr/>
          <p:nvPr/>
        </p:nvSpPr>
        <p:spPr>
          <a:xfrm>
            <a:off x="594360" y="1078992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C9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設計概念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94360" y="1508760"/>
            <a:ext cx="365760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患者 = 病歷擁有者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透過私鑰簽名登記 IPFS 雜湊值</a:t>
            </a:r>
            <a:endParaRPr lang="en-US" sz="1300" dirty="0"/>
          </a:p>
          <a:p>
            <a:pPr marL="0" indent="0">
              <a:buNone/>
            </a:pP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醫師申請授權 → 患者批准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有效期內可讀取</a:t>
            </a:r>
            <a:endParaRPr lang="en-US" sz="1300" dirty="0"/>
          </a:p>
          <a:p>
            <a:pPr marL="0" indent="0">
              <a:buNone/>
            </a:pP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每次存取 → 鏈上稽核日誌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572000" y="1005840"/>
            <a:ext cx="4297680" cy="3886200"/>
          </a:xfrm>
          <a:prstGeom prst="rect">
            <a:avLst/>
          </a:prstGeom>
          <a:solidFill>
            <a:srgbClr val="FFFFFF"/>
          </a:solidFill>
          <a:ln w="9525">
            <a:solidFill>
              <a:srgbClr val="D8E3EC"/>
            </a:solidFill>
            <a:prstDash val="solid"/>
          </a:ln>
          <a:effectLst>
            <a:outerShdw blurRad="1270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10" name="Shape 8"/>
          <p:cNvSpPr/>
          <p:nvPr/>
        </p:nvSpPr>
        <p:spPr>
          <a:xfrm>
            <a:off x="4572000" y="1005840"/>
            <a:ext cx="4297680" cy="384048"/>
          </a:xfrm>
          <a:prstGeom prst="rect">
            <a:avLst/>
          </a:prstGeom>
          <a:solidFill>
            <a:srgbClr val="1460AA"/>
          </a:solidFill>
          <a:ln w="12700">
            <a:solidFill>
              <a:srgbClr val="1460AA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1" name="Text 9"/>
          <p:cNvSpPr/>
          <p:nvPr/>
        </p:nvSpPr>
        <p:spPr>
          <a:xfrm>
            <a:off x="4681728" y="1005840"/>
            <a:ext cx="4114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核心函式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681728" y="1508760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460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registerRecord()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629400" y="1545336"/>
            <a:ext cx="21031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A62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患者登記病歷 IPFS 雜湊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681728" y="2185416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460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requestAccess()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629400" y="2221992"/>
            <a:ext cx="21031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A62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醫師申請存取授權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681728" y="2862072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460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grantAccess()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629400" y="2898648"/>
            <a:ext cx="21031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A62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患者批准，設定有效期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681728" y="3538728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460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revokeAccess()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629400" y="3575304"/>
            <a:ext cx="21031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A62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隨時撤銷特定醫師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681728" y="4215384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460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getRecord()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6629400" y="4251960"/>
            <a:ext cx="21031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A62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授權醫師讀取 IPFS 雜湊</a:t>
            </a:r>
            <a:endParaRPr lang="en-US" sz="12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09E8C"/>
          </a:solidFill>
          <a:ln w="12700">
            <a:solidFill>
              <a:srgbClr val="009E8C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" name="Text 1"/>
          <p:cNvSpPr/>
          <p:nvPr/>
        </p:nvSpPr>
        <p:spPr>
          <a:xfrm>
            <a:off x="457200" y="201168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0B1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合約二：DrugTraceability.sol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877824"/>
            <a:ext cx="8229600" cy="36576"/>
          </a:xfrm>
          <a:prstGeom prst="rect">
            <a:avLst/>
          </a:prstGeom>
          <a:solidFill>
            <a:srgbClr val="009E8C"/>
          </a:solidFill>
          <a:ln w="12700">
            <a:solidFill>
              <a:srgbClr val="009E8C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5" name="Text 3"/>
          <p:cNvSpPr/>
          <p:nvPr/>
        </p:nvSpPr>
        <p:spPr>
          <a:xfrm>
            <a:off x="8321040" y="4892040"/>
            <a:ext cx="640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 / 30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457200" y="1005840"/>
            <a:ext cx="3931920" cy="3886200"/>
          </a:xfrm>
          <a:prstGeom prst="rect">
            <a:avLst/>
          </a:prstGeom>
          <a:solidFill>
            <a:srgbClr val="0B1E35"/>
          </a:solidFill>
          <a:ln w="12700">
            <a:solidFill>
              <a:srgbClr val="0B1E35"/>
            </a:solidFill>
            <a:prstDash val="solid"/>
          </a:ln>
          <a:effectLst>
            <a:outerShdw blurRad="1270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7" name="Text 5"/>
          <p:cNvSpPr/>
          <p:nvPr/>
        </p:nvSpPr>
        <p:spPr>
          <a:xfrm>
            <a:off x="594360" y="1078992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C9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設計概念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94360" y="1508760"/>
            <a:ext cx="365760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製藥廠出廠 → mintDrug()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批次資訊鑄造為鏈上記錄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（類 NFT 概念）</a:t>
            </a:r>
            <a:endParaRPr lang="en-US" sz="1300" dirty="0"/>
          </a:p>
          <a:p>
            <a:pPr marL="0" indent="0">
              <a:buNone/>
            </a:pP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每次移轉 → transferDrug()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形成不可竄改履歷鏈</a:t>
            </a:r>
            <a:endParaRPr lang="en-US" sz="1300" dirty="0"/>
          </a:p>
          <a:p>
            <a:pPr marL="0" indent="0">
              <a:buNone/>
            </a:pP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患者掃 QR Code → verifyDrug()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取得完整溯源資訊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572000" y="1005840"/>
            <a:ext cx="4297680" cy="3886200"/>
          </a:xfrm>
          <a:prstGeom prst="rect">
            <a:avLst/>
          </a:prstGeom>
          <a:solidFill>
            <a:srgbClr val="FFFFFF"/>
          </a:solidFill>
          <a:ln w="9525">
            <a:solidFill>
              <a:srgbClr val="D8E3EC"/>
            </a:solidFill>
            <a:prstDash val="solid"/>
          </a:ln>
          <a:effectLst>
            <a:outerShdw blurRad="1270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10" name="Shape 8"/>
          <p:cNvSpPr/>
          <p:nvPr/>
        </p:nvSpPr>
        <p:spPr>
          <a:xfrm>
            <a:off x="4572000" y="1005840"/>
            <a:ext cx="4297680" cy="384048"/>
          </a:xfrm>
          <a:prstGeom prst="rect">
            <a:avLst/>
          </a:prstGeom>
          <a:solidFill>
            <a:srgbClr val="009E8C"/>
          </a:solidFill>
          <a:ln w="12700">
            <a:solidFill>
              <a:srgbClr val="009E8C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1" name="Text 9"/>
          <p:cNvSpPr/>
          <p:nvPr/>
        </p:nvSpPr>
        <p:spPr>
          <a:xfrm>
            <a:off x="4681728" y="1005840"/>
            <a:ext cx="4114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核心函式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681728" y="1508760"/>
            <a:ext cx="2148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9E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mintDrug()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858000" y="1545336"/>
            <a:ext cx="1874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A62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製藥廠鑄造批次記錄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681728" y="2185416"/>
            <a:ext cx="2148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9E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transferDrug()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858000" y="2221992"/>
            <a:ext cx="1874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A62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記錄每個供應鏈移轉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681728" y="2862072"/>
            <a:ext cx="2148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9E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updateTemperature()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858000" y="2898648"/>
            <a:ext cx="1874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A62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IoT 寫入冷鏈溫控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681728" y="3538728"/>
            <a:ext cx="2148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9E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verifyDrug()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858000" y="3575304"/>
            <a:ext cx="1874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A62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查詢完整溯源履歷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681728" y="4215384"/>
            <a:ext cx="2148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9E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recallDrug()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6858000" y="4251960"/>
            <a:ext cx="1874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A62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監管機構廣播召回事件</a:t>
            </a:r>
            <a:endParaRPr lang="en-US" sz="12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8862209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09E8C"/>
          </a:solidFill>
          <a:ln w="12700">
            <a:solidFill>
              <a:srgbClr val="009E8C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" name="Text 1"/>
          <p:cNvSpPr/>
          <p:nvPr/>
        </p:nvSpPr>
        <p:spPr>
          <a:xfrm>
            <a:off x="457200" y="201168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0B1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PoC 展示場景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877824"/>
            <a:ext cx="8229600" cy="36576"/>
          </a:xfrm>
          <a:prstGeom prst="rect">
            <a:avLst/>
          </a:prstGeom>
          <a:solidFill>
            <a:srgbClr val="009E8C"/>
          </a:solidFill>
          <a:ln w="12700">
            <a:solidFill>
              <a:srgbClr val="009E8C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5" name="Text 3"/>
          <p:cNvSpPr/>
          <p:nvPr/>
        </p:nvSpPr>
        <p:spPr>
          <a:xfrm>
            <a:off x="8321040" y="4892040"/>
            <a:ext cx="640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 / 30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457200" y="1024128"/>
            <a:ext cx="8229600" cy="1188720"/>
          </a:xfrm>
          <a:prstGeom prst="rect">
            <a:avLst/>
          </a:prstGeom>
          <a:solidFill>
            <a:srgbClr val="FFFFFF"/>
          </a:solidFill>
          <a:ln w="9525">
            <a:solidFill>
              <a:srgbClr val="D8E3EC"/>
            </a:solidFill>
            <a:prstDash val="solid"/>
          </a:ln>
          <a:effectLst>
            <a:outerShdw blurRad="1270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7" name="Shape 5"/>
          <p:cNvSpPr/>
          <p:nvPr/>
        </p:nvSpPr>
        <p:spPr>
          <a:xfrm>
            <a:off x="457200" y="1024128"/>
            <a:ext cx="914400" cy="1188720"/>
          </a:xfrm>
          <a:prstGeom prst="rect">
            <a:avLst/>
          </a:prstGeom>
          <a:solidFill>
            <a:srgbClr val="1460AA"/>
          </a:solidFill>
          <a:ln w="12700">
            <a:solidFill>
              <a:srgbClr val="1460AA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8" name="Text 6"/>
          <p:cNvSpPr/>
          <p:nvPr/>
        </p:nvSpPr>
        <p:spPr>
          <a:xfrm>
            <a:off x="457200" y="1024128"/>
            <a:ext cx="9144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場景 01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1508760" y="1115568"/>
            <a:ext cx="7040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460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跨院即時授權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508760" y="1481328"/>
            <a:ext cx="70408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4A62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患者授權台大醫院急診醫師查閱過敏史及慢性病用藥紀錄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4A62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醫師即時獲取，完成診療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4A62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授權日誌永久記錄於鏈上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457200" y="2395728"/>
            <a:ext cx="8229600" cy="1188720"/>
          </a:xfrm>
          <a:prstGeom prst="rect">
            <a:avLst/>
          </a:prstGeom>
          <a:solidFill>
            <a:srgbClr val="FFFFFF"/>
          </a:solidFill>
          <a:ln w="9525">
            <a:solidFill>
              <a:srgbClr val="D8E3EC"/>
            </a:solidFill>
            <a:prstDash val="solid"/>
          </a:ln>
          <a:effectLst>
            <a:outerShdw blurRad="1270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12" name="Shape 10"/>
          <p:cNvSpPr/>
          <p:nvPr/>
        </p:nvSpPr>
        <p:spPr>
          <a:xfrm>
            <a:off x="457200" y="2395728"/>
            <a:ext cx="914400" cy="1188720"/>
          </a:xfrm>
          <a:prstGeom prst="rect">
            <a:avLst/>
          </a:prstGeom>
          <a:solidFill>
            <a:srgbClr val="009E8C"/>
          </a:solidFill>
          <a:ln w="12700">
            <a:solidFill>
              <a:srgbClr val="009E8C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3" name="Text 11"/>
          <p:cNvSpPr/>
          <p:nvPr/>
        </p:nvSpPr>
        <p:spPr>
          <a:xfrm>
            <a:off x="457200" y="2395728"/>
            <a:ext cx="9144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場景 02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508760" y="2487168"/>
            <a:ext cx="7040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9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冷鏈異常攔截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508760" y="2852928"/>
            <a:ext cx="70408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4A62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批發商掃描胰島素批次 QR Code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4A62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鏈上記錄顯示冷鏈運輸期間溫度異常（IoT 預言機寫入）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4A62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當場拒絕收貨，觸發品質告警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457200" y="3767328"/>
            <a:ext cx="8229600" cy="1188720"/>
          </a:xfrm>
          <a:prstGeom prst="rect">
            <a:avLst/>
          </a:prstGeom>
          <a:solidFill>
            <a:srgbClr val="FFFFFF"/>
          </a:solidFill>
          <a:ln w="9525">
            <a:solidFill>
              <a:srgbClr val="D8E3EC"/>
            </a:solidFill>
            <a:prstDash val="solid"/>
          </a:ln>
          <a:effectLst>
            <a:outerShdw blurRad="1270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17" name="Shape 15"/>
          <p:cNvSpPr/>
          <p:nvPr/>
        </p:nvSpPr>
        <p:spPr>
          <a:xfrm>
            <a:off x="457200" y="3767328"/>
            <a:ext cx="914400" cy="1188720"/>
          </a:xfrm>
          <a:prstGeom prst="rect">
            <a:avLst/>
          </a:prstGeom>
          <a:solidFill>
            <a:srgbClr val="1460AA"/>
          </a:solidFill>
          <a:ln w="12700">
            <a:solidFill>
              <a:srgbClr val="1460AA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8" name="Text 16"/>
          <p:cNvSpPr/>
          <p:nvPr/>
        </p:nvSpPr>
        <p:spPr>
          <a:xfrm>
            <a:off x="457200" y="3767328"/>
            <a:ext cx="9144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場景 03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1508760" y="3858768"/>
            <a:ext cx="7040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460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分鐘全台召回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1508760" y="4224528"/>
            <a:ext cx="70408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4A62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TFDA 發現某批號止痛藥含量不合規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4A62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呼叫 recallDrug()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4A62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所有持有該批次節點立即收到鏈上通知</a:t>
            </a:r>
            <a:endParaRPr lang="en-US" sz="125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0B1E3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57200" cy="5143500"/>
          </a:xfrm>
          <a:prstGeom prst="rect">
            <a:avLst/>
          </a:prstGeom>
          <a:solidFill>
            <a:srgbClr val="009E8C"/>
          </a:solidFill>
          <a:ln w="12700">
            <a:solidFill>
              <a:srgbClr val="009E8C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" name="Shape 1"/>
          <p:cNvSpPr/>
          <p:nvPr/>
        </p:nvSpPr>
        <p:spPr>
          <a:xfrm>
            <a:off x="457200" y="1920240"/>
            <a:ext cx="8686800" cy="45720"/>
          </a:xfrm>
          <a:prstGeom prst="rect">
            <a:avLst/>
          </a:prstGeom>
          <a:solidFill>
            <a:srgbClr val="00C9B1"/>
          </a:solidFill>
          <a:ln w="12700">
            <a:solidFill>
              <a:srgbClr val="00C9B1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4" name="Text 2"/>
          <p:cNvSpPr/>
          <p:nvPr/>
        </p:nvSpPr>
        <p:spPr>
          <a:xfrm>
            <a:off x="685800" y="77724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00C9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 05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685800" y="1188720"/>
            <a:ext cx="80467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機遇與挑戰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685800" y="2286000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政策驅動 · IoT 融合 · 法規衝突 · 人因障礙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321040" y="4892040"/>
            <a:ext cx="640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 / 30</a:t>
            </a:r>
            <a:endParaRPr lang="en-US" sz="9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09E8C"/>
          </a:solidFill>
          <a:ln w="12700">
            <a:solidFill>
              <a:srgbClr val="009E8C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" name="Text 1"/>
          <p:cNvSpPr/>
          <p:nvPr/>
        </p:nvSpPr>
        <p:spPr>
          <a:xfrm>
            <a:off x="457200" y="201168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0B1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四大發展機遇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877824"/>
            <a:ext cx="8229600" cy="36576"/>
          </a:xfrm>
          <a:prstGeom prst="rect">
            <a:avLst/>
          </a:prstGeom>
          <a:solidFill>
            <a:srgbClr val="009E8C"/>
          </a:solidFill>
          <a:ln w="12700">
            <a:solidFill>
              <a:srgbClr val="009E8C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5" name="Text 3"/>
          <p:cNvSpPr/>
          <p:nvPr/>
        </p:nvSpPr>
        <p:spPr>
          <a:xfrm>
            <a:off x="8321040" y="4892040"/>
            <a:ext cx="640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 / 30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457200" y="1051560"/>
            <a:ext cx="2633472" cy="3337560"/>
          </a:xfrm>
          <a:prstGeom prst="rect">
            <a:avLst/>
          </a:prstGeom>
          <a:solidFill>
            <a:srgbClr val="FFFFFF"/>
          </a:solidFill>
          <a:ln w="9525">
            <a:solidFill>
              <a:srgbClr val="D8E3EC"/>
            </a:solidFill>
            <a:prstDash val="solid"/>
          </a:ln>
          <a:effectLst>
            <a:outerShdw blurRad="1270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7" name="Shape 5"/>
          <p:cNvSpPr/>
          <p:nvPr/>
        </p:nvSpPr>
        <p:spPr>
          <a:xfrm>
            <a:off x="457200" y="1051560"/>
            <a:ext cx="2633472" cy="411480"/>
          </a:xfrm>
          <a:prstGeom prst="rect">
            <a:avLst/>
          </a:prstGeom>
          <a:solidFill>
            <a:srgbClr val="009E8C"/>
          </a:solidFill>
          <a:ln w="12700">
            <a:solidFill>
              <a:srgbClr val="009E8C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8" name="Text 6"/>
          <p:cNvSpPr/>
          <p:nvPr/>
        </p:nvSpPr>
        <p:spPr>
          <a:xfrm>
            <a:off x="457200" y="1051560"/>
            <a:ext cx="26334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政策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566928" y="1527048"/>
            <a:ext cx="241401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0B1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政策驅動轉型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66928" y="1984248"/>
            <a:ext cx="2414016" cy="23134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50" dirty="0">
                <a:solidFill>
                  <a:srgbClr val="4A62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台灣 HWDC 開放健保資料庫研究</a:t>
            </a:r>
            <a:endParaRPr lang="en-US" sz="1250" dirty="0"/>
          </a:p>
          <a:p>
            <a:pPr marL="0" indent="0" algn="l">
              <a:buNone/>
            </a:pPr>
            <a:r>
              <a:rPr lang="en-US" sz="1250" dirty="0">
                <a:solidFill>
                  <a:srgbClr val="4A62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COVID-19 後各國數位健康投資大幅增加 [12]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3255264" y="1051560"/>
            <a:ext cx="2633472" cy="3337560"/>
          </a:xfrm>
          <a:prstGeom prst="rect">
            <a:avLst/>
          </a:prstGeom>
          <a:solidFill>
            <a:srgbClr val="FFFFFF"/>
          </a:solidFill>
          <a:ln w="9525">
            <a:solidFill>
              <a:srgbClr val="D8E3EC"/>
            </a:solidFill>
            <a:prstDash val="solid"/>
          </a:ln>
          <a:effectLst>
            <a:outerShdw blurRad="1270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12" name="Shape 10"/>
          <p:cNvSpPr/>
          <p:nvPr/>
        </p:nvSpPr>
        <p:spPr>
          <a:xfrm>
            <a:off x="3255264" y="1051560"/>
            <a:ext cx="2633472" cy="411480"/>
          </a:xfrm>
          <a:prstGeom prst="rect">
            <a:avLst/>
          </a:prstGeom>
          <a:solidFill>
            <a:srgbClr val="1460AA"/>
          </a:solidFill>
          <a:ln w="12700">
            <a:solidFill>
              <a:srgbClr val="1460AA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3" name="Text 11"/>
          <p:cNvSpPr/>
          <p:nvPr/>
        </p:nvSpPr>
        <p:spPr>
          <a:xfrm>
            <a:off x="3255264" y="1051560"/>
            <a:ext cx="26334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Web3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3364992" y="1527048"/>
            <a:ext cx="241401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0B1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 技術移植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3364992" y="1984248"/>
            <a:ext cx="2414016" cy="23134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50" dirty="0">
                <a:solidFill>
                  <a:srgbClr val="4A62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智能合約設計模式可移植至</a:t>
            </a:r>
            <a:endParaRPr lang="en-US" sz="1250" dirty="0"/>
          </a:p>
          <a:p>
            <a:pPr marL="0" indent="0" algn="l">
              <a:buNone/>
            </a:pPr>
            <a:r>
              <a:rPr lang="en-US" sz="1250" dirty="0">
                <a:solidFill>
                  <a:srgbClr val="4A62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醫療保險自動理賠場景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053328" y="1051560"/>
            <a:ext cx="2633472" cy="3337560"/>
          </a:xfrm>
          <a:prstGeom prst="rect">
            <a:avLst/>
          </a:prstGeom>
          <a:solidFill>
            <a:srgbClr val="FFFFFF"/>
          </a:solidFill>
          <a:ln w="9525">
            <a:solidFill>
              <a:srgbClr val="D8E3EC"/>
            </a:solidFill>
            <a:prstDash val="solid"/>
          </a:ln>
          <a:effectLst>
            <a:outerShdw blurRad="1270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17" name="Shape 15"/>
          <p:cNvSpPr/>
          <p:nvPr/>
        </p:nvSpPr>
        <p:spPr>
          <a:xfrm>
            <a:off x="6053328" y="1051560"/>
            <a:ext cx="2633472" cy="411480"/>
          </a:xfrm>
          <a:prstGeom prst="rect">
            <a:avLst/>
          </a:prstGeom>
          <a:solidFill>
            <a:srgbClr val="009E8C"/>
          </a:solidFill>
          <a:ln w="12700">
            <a:solidFill>
              <a:srgbClr val="009E8C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8" name="Text 16"/>
          <p:cNvSpPr/>
          <p:nvPr/>
        </p:nvSpPr>
        <p:spPr>
          <a:xfrm>
            <a:off x="6053328" y="1051560"/>
            <a:ext cx="26334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IoT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6163056" y="1527048"/>
            <a:ext cx="241401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0B1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IoT + AI 協同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6163056" y="1984248"/>
            <a:ext cx="2414016" cy="23134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50" dirty="0">
                <a:solidFill>
                  <a:srgbClr val="4A62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穿戴裝置即時上鏈</a:t>
            </a:r>
            <a:endParaRPr lang="en-US" sz="1250" dirty="0"/>
          </a:p>
          <a:p>
            <a:pPr marL="0" indent="0" algn="l">
              <a:buNone/>
            </a:pPr>
            <a:r>
              <a:rPr lang="en-US" sz="1250" dirty="0">
                <a:solidFill>
                  <a:srgbClr val="4A62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分析形成個人化預防醫療方案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457200" y="4590288"/>
            <a:ext cx="8229600" cy="411480"/>
          </a:xfrm>
          <a:prstGeom prst="rect">
            <a:avLst/>
          </a:prstGeom>
          <a:solidFill>
            <a:srgbClr val="E8F1FB"/>
          </a:solidFill>
          <a:ln w="9525">
            <a:solidFill>
              <a:srgbClr val="1460AA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2" name="Text 20"/>
          <p:cNvSpPr/>
          <p:nvPr/>
        </p:nvSpPr>
        <p:spPr>
          <a:xfrm>
            <a:off x="594360" y="4590288"/>
            <a:ext cx="7955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460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學術動能：Nature / Wiley / Springer 2024–2025 年密集發表 EHR 與藥品供應鏈區塊鏈實證研究 [5][7][8][9]</a:t>
            </a:r>
            <a:endParaRPr lang="en-US" sz="115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09E8C"/>
          </a:solidFill>
          <a:ln w="12700">
            <a:solidFill>
              <a:srgbClr val="009E8C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" name="Text 1"/>
          <p:cNvSpPr/>
          <p:nvPr/>
        </p:nvSpPr>
        <p:spPr>
          <a:xfrm>
            <a:off x="457200" y="201168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0B1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五大落地挑戰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877824"/>
            <a:ext cx="8229600" cy="36576"/>
          </a:xfrm>
          <a:prstGeom prst="rect">
            <a:avLst/>
          </a:prstGeom>
          <a:solidFill>
            <a:srgbClr val="009E8C"/>
          </a:solidFill>
          <a:ln w="12700">
            <a:solidFill>
              <a:srgbClr val="009E8C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5" name="Text 3"/>
          <p:cNvSpPr/>
          <p:nvPr/>
        </p:nvSpPr>
        <p:spPr>
          <a:xfrm>
            <a:off x="8321040" y="4892040"/>
            <a:ext cx="640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 / 30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457200" y="1024128"/>
            <a:ext cx="8229600" cy="694944"/>
          </a:xfrm>
          <a:prstGeom prst="rect">
            <a:avLst/>
          </a:prstGeom>
          <a:solidFill>
            <a:srgbClr val="FFFFFF"/>
          </a:solidFill>
          <a:ln w="9525">
            <a:solidFill>
              <a:srgbClr val="D8E3EC"/>
            </a:solidFill>
            <a:prstDash val="solid"/>
          </a:ln>
          <a:effectLst>
            <a:outerShdw blurRad="1270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7" name="Shape 5"/>
          <p:cNvSpPr/>
          <p:nvPr/>
        </p:nvSpPr>
        <p:spPr>
          <a:xfrm>
            <a:off x="457200" y="1024128"/>
            <a:ext cx="566928" cy="694944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8" name="Text 6"/>
          <p:cNvSpPr/>
          <p:nvPr/>
        </p:nvSpPr>
        <p:spPr>
          <a:xfrm>
            <a:off x="457200" y="1024128"/>
            <a:ext cx="566928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133856" y="1078992"/>
            <a:ext cx="74615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法規遵循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1133856" y="1371600"/>
            <a:ext cx="74615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A62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不可刪除性 vs. GDPR 被遺忘權，根本衝突尚待立法解方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57200" y="1828800"/>
            <a:ext cx="8229600" cy="694944"/>
          </a:xfrm>
          <a:prstGeom prst="rect">
            <a:avLst/>
          </a:prstGeom>
          <a:solidFill>
            <a:srgbClr val="FFFFFF"/>
          </a:solidFill>
          <a:ln w="9525">
            <a:solidFill>
              <a:srgbClr val="D8E3EC"/>
            </a:solidFill>
            <a:prstDash val="solid"/>
          </a:ln>
          <a:effectLst>
            <a:outerShdw blurRad="1270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12" name="Shape 10"/>
          <p:cNvSpPr/>
          <p:nvPr/>
        </p:nvSpPr>
        <p:spPr>
          <a:xfrm>
            <a:off x="457200" y="1828800"/>
            <a:ext cx="566928" cy="694944"/>
          </a:xfrm>
          <a:prstGeom prst="rect">
            <a:avLst/>
          </a:prstGeom>
          <a:solidFill>
            <a:srgbClr val="1460AA"/>
          </a:solidFill>
          <a:ln w="12700">
            <a:solidFill>
              <a:srgbClr val="1460AA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3" name="Text 11"/>
          <p:cNvSpPr/>
          <p:nvPr/>
        </p:nvSpPr>
        <p:spPr>
          <a:xfrm>
            <a:off x="457200" y="1828800"/>
            <a:ext cx="566928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1133856" y="1883664"/>
            <a:ext cx="74615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460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技術整合困難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1133856" y="2176272"/>
            <a:ext cx="74615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A62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現有 HIS 多為數十年前架構；HL7 FHIR 整合規範仍在制訂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57200" y="2633472"/>
            <a:ext cx="8229600" cy="694944"/>
          </a:xfrm>
          <a:prstGeom prst="rect">
            <a:avLst/>
          </a:prstGeom>
          <a:solidFill>
            <a:srgbClr val="FFFFFF"/>
          </a:solidFill>
          <a:ln w="9525">
            <a:solidFill>
              <a:srgbClr val="D8E3EC"/>
            </a:solidFill>
            <a:prstDash val="solid"/>
          </a:ln>
          <a:effectLst>
            <a:outerShdw blurRad="1270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17" name="Shape 15"/>
          <p:cNvSpPr/>
          <p:nvPr/>
        </p:nvSpPr>
        <p:spPr>
          <a:xfrm>
            <a:off x="457200" y="2633472"/>
            <a:ext cx="566928" cy="694944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8" name="Text 16"/>
          <p:cNvSpPr/>
          <p:nvPr/>
        </p:nvSpPr>
        <p:spPr>
          <a:xfrm>
            <a:off x="457200" y="2633472"/>
            <a:ext cx="566928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1133856" y="2688336"/>
            <a:ext cx="74615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擴展性瓶頸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1133856" y="2980944"/>
            <a:ext cx="74615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A62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醫療影像、基因資料 GB~TB，全部上鏈成本難以承受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457200" y="3438144"/>
            <a:ext cx="8229600" cy="694944"/>
          </a:xfrm>
          <a:prstGeom prst="rect">
            <a:avLst/>
          </a:prstGeom>
          <a:solidFill>
            <a:srgbClr val="FFFFFF"/>
          </a:solidFill>
          <a:ln w="9525">
            <a:solidFill>
              <a:srgbClr val="D8E3EC"/>
            </a:solidFill>
            <a:prstDash val="solid"/>
          </a:ln>
          <a:effectLst>
            <a:outerShdw blurRad="1270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22" name="Shape 20"/>
          <p:cNvSpPr/>
          <p:nvPr/>
        </p:nvSpPr>
        <p:spPr>
          <a:xfrm>
            <a:off x="457200" y="3438144"/>
            <a:ext cx="566928" cy="694944"/>
          </a:xfrm>
          <a:prstGeom prst="rect">
            <a:avLst/>
          </a:prstGeom>
          <a:solidFill>
            <a:srgbClr val="1460AA"/>
          </a:solidFill>
          <a:ln w="12700">
            <a:solidFill>
              <a:srgbClr val="1460AA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3" name="Text 21"/>
          <p:cNvSpPr/>
          <p:nvPr/>
        </p:nvSpPr>
        <p:spPr>
          <a:xfrm>
            <a:off x="457200" y="3438144"/>
            <a:ext cx="566928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1133856" y="3493008"/>
            <a:ext cx="74615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460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從業者接受度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1133856" y="3785616"/>
            <a:ext cx="74615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A62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員工抗拒（P17）與對效益認知不足（P14）為關鍵人因障礙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457200" y="4242816"/>
            <a:ext cx="8229600" cy="694944"/>
          </a:xfrm>
          <a:prstGeom prst="rect">
            <a:avLst/>
          </a:prstGeom>
          <a:solidFill>
            <a:srgbClr val="FFFFFF"/>
          </a:solidFill>
          <a:ln w="9525">
            <a:solidFill>
              <a:srgbClr val="D8E3EC"/>
            </a:solidFill>
            <a:prstDash val="solid"/>
          </a:ln>
          <a:effectLst>
            <a:outerShdw blurRad="1270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27" name="Shape 25"/>
          <p:cNvSpPr/>
          <p:nvPr/>
        </p:nvSpPr>
        <p:spPr>
          <a:xfrm>
            <a:off x="457200" y="4242816"/>
            <a:ext cx="566928" cy="694944"/>
          </a:xfrm>
          <a:prstGeom prst="rect">
            <a:avLst/>
          </a:prstGeom>
          <a:solidFill>
            <a:srgbClr val="009E8C"/>
          </a:solidFill>
          <a:ln w="12700">
            <a:solidFill>
              <a:srgbClr val="009E8C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8" name="Text 26"/>
          <p:cNvSpPr/>
          <p:nvPr/>
        </p:nvSpPr>
        <p:spPr>
          <a:xfrm>
            <a:off x="457200" y="4242816"/>
            <a:ext cx="566928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500" dirty="0"/>
          </a:p>
        </p:txBody>
      </p:sp>
      <p:sp>
        <p:nvSpPr>
          <p:cNvPr id="29" name="Text 27"/>
          <p:cNvSpPr/>
          <p:nvPr/>
        </p:nvSpPr>
        <p:spPr>
          <a:xfrm>
            <a:off x="1133856" y="4297680"/>
            <a:ext cx="74615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09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數位落差</a:t>
            </a:r>
            <a:endParaRPr lang="en-US" sz="1250" dirty="0"/>
          </a:p>
        </p:txBody>
      </p:sp>
      <p:sp>
        <p:nvSpPr>
          <p:cNvPr id="30" name="Text 28"/>
          <p:cNvSpPr/>
          <p:nvPr/>
        </p:nvSpPr>
        <p:spPr>
          <a:xfrm>
            <a:off x="1133856" y="4590288"/>
            <a:ext cx="74615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A62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偏鄉機構資訊化不足，弱勢族群可能無法享有相關服務</a:t>
            </a:r>
            <a:endParaRPr lang="en-US" sz="12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0B1E3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57200" cy="5143500"/>
          </a:xfrm>
          <a:prstGeom prst="rect">
            <a:avLst/>
          </a:prstGeom>
          <a:solidFill>
            <a:srgbClr val="009E8C"/>
          </a:solidFill>
          <a:ln w="12700">
            <a:solidFill>
              <a:srgbClr val="009E8C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" name="Shape 1"/>
          <p:cNvSpPr/>
          <p:nvPr/>
        </p:nvSpPr>
        <p:spPr>
          <a:xfrm>
            <a:off x="457200" y="1920240"/>
            <a:ext cx="8686800" cy="45720"/>
          </a:xfrm>
          <a:prstGeom prst="rect">
            <a:avLst/>
          </a:prstGeom>
          <a:solidFill>
            <a:srgbClr val="00C9B1"/>
          </a:solidFill>
          <a:ln w="12700">
            <a:solidFill>
              <a:srgbClr val="00C9B1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4" name="Text 2"/>
          <p:cNvSpPr/>
          <p:nvPr/>
        </p:nvSpPr>
        <p:spPr>
          <a:xfrm>
            <a:off x="685800" y="77724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00C9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 06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685800" y="1188720"/>
            <a:ext cx="80467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結論與展望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685800" y="2286000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分階段導入 · 技術融合 · 未來展望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321040" y="4892040"/>
            <a:ext cx="640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 / 30</a:t>
            </a:r>
            <a:endParaRPr lang="en-US" sz="9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09E8C"/>
          </a:solidFill>
          <a:ln w="12700">
            <a:solidFill>
              <a:srgbClr val="009E8C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" name="Text 1"/>
          <p:cNvSpPr/>
          <p:nvPr/>
        </p:nvSpPr>
        <p:spPr>
          <a:xfrm>
            <a:off x="457200" y="201168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0B1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研究結論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877824"/>
            <a:ext cx="8229600" cy="36576"/>
          </a:xfrm>
          <a:prstGeom prst="rect">
            <a:avLst/>
          </a:prstGeom>
          <a:solidFill>
            <a:srgbClr val="009E8C"/>
          </a:solidFill>
          <a:ln w="12700">
            <a:solidFill>
              <a:srgbClr val="009E8C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5" name="Text 3"/>
          <p:cNvSpPr/>
          <p:nvPr/>
        </p:nvSpPr>
        <p:spPr>
          <a:xfrm>
            <a:off x="8321040" y="4892040"/>
            <a:ext cx="640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 / 30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457200" y="1051560"/>
            <a:ext cx="8229600" cy="1188720"/>
          </a:xfrm>
          <a:prstGeom prst="rect">
            <a:avLst/>
          </a:prstGeom>
          <a:solidFill>
            <a:srgbClr val="FFFFFF"/>
          </a:solidFill>
          <a:ln w="9525">
            <a:solidFill>
              <a:srgbClr val="D8E3EC"/>
            </a:solidFill>
            <a:prstDash val="solid"/>
          </a:ln>
          <a:effectLst>
            <a:outerShdw blurRad="1270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7" name="Shape 5"/>
          <p:cNvSpPr/>
          <p:nvPr/>
        </p:nvSpPr>
        <p:spPr>
          <a:xfrm>
            <a:off x="457200" y="1051560"/>
            <a:ext cx="1143000" cy="1188720"/>
          </a:xfrm>
          <a:prstGeom prst="rect">
            <a:avLst/>
          </a:prstGeom>
          <a:solidFill>
            <a:srgbClr val="009E8C"/>
          </a:solidFill>
          <a:ln w="12700">
            <a:solidFill>
              <a:srgbClr val="009E8C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8" name="Text 6"/>
          <p:cNvSpPr/>
          <p:nvPr/>
        </p:nvSpPr>
        <p:spPr>
          <a:xfrm>
            <a:off x="457200" y="1051560"/>
            <a:ext cx="11430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457200" y="1563624"/>
            <a:ext cx="11430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高度契合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1691640" y="1325880"/>
            <a:ext cx="6858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0B1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不可竄改、去中心化、智能合約三大特性與醫療資料管理核心需求高度契合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457200" y="2423160"/>
            <a:ext cx="8229600" cy="1188720"/>
          </a:xfrm>
          <a:prstGeom prst="rect">
            <a:avLst/>
          </a:prstGeom>
          <a:solidFill>
            <a:srgbClr val="FFFFFF"/>
          </a:solidFill>
          <a:ln w="9525">
            <a:solidFill>
              <a:srgbClr val="D8E3EC"/>
            </a:solidFill>
            <a:prstDash val="solid"/>
          </a:ln>
          <a:effectLst>
            <a:outerShdw blurRad="1270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12" name="Shape 10"/>
          <p:cNvSpPr/>
          <p:nvPr/>
        </p:nvSpPr>
        <p:spPr>
          <a:xfrm>
            <a:off x="457200" y="2423160"/>
            <a:ext cx="1143000" cy="1188720"/>
          </a:xfrm>
          <a:prstGeom prst="rect">
            <a:avLst/>
          </a:prstGeom>
          <a:solidFill>
            <a:srgbClr val="1460AA"/>
          </a:solidFill>
          <a:ln w="12700">
            <a:solidFill>
              <a:srgbClr val="1460AA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3" name="Text 11"/>
          <p:cNvSpPr/>
          <p:nvPr/>
        </p:nvSpPr>
        <p:spPr>
          <a:xfrm>
            <a:off x="457200" y="2423160"/>
            <a:ext cx="11430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457200" y="2935224"/>
            <a:ext cx="11430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非萬能解藥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1691640" y="2697480"/>
            <a:ext cx="6858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0B1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法規衝突、整合成本、擴展瓶頸、人才短缺是落地必須正視的挑戰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457200" y="3794760"/>
            <a:ext cx="8229600" cy="1188720"/>
          </a:xfrm>
          <a:prstGeom prst="rect">
            <a:avLst/>
          </a:prstGeom>
          <a:solidFill>
            <a:srgbClr val="FFFFFF"/>
          </a:solidFill>
          <a:ln w="9525">
            <a:solidFill>
              <a:srgbClr val="D8E3EC"/>
            </a:solidFill>
            <a:prstDash val="solid"/>
          </a:ln>
          <a:effectLst>
            <a:outerShdw blurRad="1270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17" name="Shape 15"/>
          <p:cNvSpPr/>
          <p:nvPr/>
        </p:nvSpPr>
        <p:spPr>
          <a:xfrm>
            <a:off x="457200" y="3794760"/>
            <a:ext cx="1143000" cy="1188720"/>
          </a:xfrm>
          <a:prstGeom prst="rect">
            <a:avLst/>
          </a:prstGeom>
          <a:solidFill>
            <a:srgbClr val="009E8C"/>
          </a:solidFill>
          <a:ln w="12700">
            <a:solidFill>
              <a:srgbClr val="009E8C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8" name="Text 16"/>
          <p:cNvSpPr/>
          <p:nvPr/>
        </p:nvSpPr>
        <p:spPr>
          <a:xfrm>
            <a:off x="457200" y="3794760"/>
            <a:ext cx="11430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457200" y="4306824"/>
            <a:ext cx="11430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分階段導入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1691640" y="4069080"/>
            <a:ext cx="6858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0B1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先聯盟鏈試點單一高價值場景（跨院轉診或藥品溯源），積累案例後逐步擴展</a:t>
            </a:r>
            <a:endParaRPr lang="en-US" sz="15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0B1E3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57200" cy="5143500"/>
          </a:xfrm>
          <a:prstGeom prst="rect">
            <a:avLst/>
          </a:prstGeom>
          <a:solidFill>
            <a:srgbClr val="009E8C"/>
          </a:solidFill>
          <a:ln w="12700">
            <a:solidFill>
              <a:srgbClr val="009E8C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" name="Shape 1"/>
          <p:cNvSpPr/>
          <p:nvPr/>
        </p:nvSpPr>
        <p:spPr>
          <a:xfrm>
            <a:off x="457200" y="0"/>
            <a:ext cx="8686800" cy="914400"/>
          </a:xfrm>
          <a:prstGeom prst="rect">
            <a:avLst/>
          </a:prstGeom>
          <a:solidFill>
            <a:srgbClr val="07111F"/>
          </a:solidFill>
          <a:ln w="12700">
            <a:solidFill>
              <a:srgbClr val="07111F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4" name="Text 2"/>
          <p:cNvSpPr/>
          <p:nvPr/>
        </p:nvSpPr>
        <p:spPr>
          <a:xfrm>
            <a:off x="685800" y="20116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00C9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未來展望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85800" y="1051560"/>
            <a:ext cx="8229600" cy="987552"/>
          </a:xfrm>
          <a:prstGeom prst="rect">
            <a:avLst/>
          </a:prstGeom>
          <a:solidFill>
            <a:srgbClr val="0F2538"/>
          </a:solidFill>
          <a:ln w="9525">
            <a:solidFill>
              <a:srgbClr val="009E8C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6" name="Text 4"/>
          <p:cNvSpPr/>
          <p:nvPr/>
        </p:nvSpPr>
        <p:spPr>
          <a:xfrm>
            <a:off x="868680" y="1106424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0C9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 2 擴展方案成熟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868680" y="150876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大幅降低鏈上交易成本與延遲，突破效能瓶頸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85800" y="2194560"/>
            <a:ext cx="8229600" cy="987552"/>
          </a:xfrm>
          <a:prstGeom prst="rect">
            <a:avLst/>
          </a:prstGeom>
          <a:solidFill>
            <a:srgbClr val="0F2538"/>
          </a:solidFill>
          <a:ln w="9525">
            <a:solidFill>
              <a:srgbClr val="009E8C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9" name="Text 7"/>
          <p:cNvSpPr/>
          <p:nvPr/>
        </p:nvSpPr>
        <p:spPr>
          <a:xfrm>
            <a:off x="868680" y="2249424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0C9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零知識證明（ZKP）廣泛應用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868680" y="265176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解決隱私權 vs. 不可刪除性的根本衝突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85800" y="3337560"/>
            <a:ext cx="8229600" cy="987552"/>
          </a:xfrm>
          <a:prstGeom prst="rect">
            <a:avLst/>
          </a:prstGeom>
          <a:solidFill>
            <a:srgbClr val="0F2538"/>
          </a:solidFill>
          <a:ln w="9525">
            <a:solidFill>
              <a:srgbClr val="009E8C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2" name="Text 10"/>
          <p:cNvSpPr/>
          <p:nvPr/>
        </p:nvSpPr>
        <p:spPr>
          <a:xfrm>
            <a:off x="868680" y="3392424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0C9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醫療 AI × 區塊鏈深度融合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868680" y="379476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個人化精準醫療 + 可信資料治理，建立全球健康資料基礎設施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685800" y="4434840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感謝聆聽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685800" y="477316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筆引用 · 四輪文獻驗證 · Blockchain Healthcare Research 2025–2026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8321040" y="4892040"/>
            <a:ext cx="640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 / 30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955</TotalTime>
  <Words>966</Words>
  <Application>Microsoft Office PowerPoint</Application>
  <PresentationFormat>如螢幕大小 (16:9)</PresentationFormat>
  <Paragraphs>367</Paragraphs>
  <Slides>31</Slides>
  <Notes>30</Notes>
  <HiddenSlides>0</HiddenSlides>
  <MMClips>0</MMClips>
  <ScaleCrop>false</ScaleCrop>
  <HeadingPairs>
    <vt:vector size="6" baseType="variant">
      <vt:variant>
        <vt:lpstr>使用字型</vt:lpstr>
      </vt:variant>
      <vt:variant>
        <vt:i4>3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31</vt:i4>
      </vt:variant>
    </vt:vector>
  </HeadingPairs>
  <TitlesOfParts>
    <vt:vector size="35" baseType="lpstr">
      <vt:lpstr>Arial</vt:lpstr>
      <vt:lpstr>Calibri</vt:lpstr>
      <vt:lpstr>Courier New</vt:lpstr>
      <vt:lpstr>Office Theme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區塊鏈於醫療健康資料管理之創新應用研究</dc:title>
  <dc:subject>PptxGenJS Presentation</dc:subject>
  <dc:creator>Blockchain Healthcare Research</dc:creator>
  <cp:lastModifiedBy>温家昇</cp:lastModifiedBy>
  <cp:revision>2</cp:revision>
  <dcterms:created xsi:type="dcterms:W3CDTF">2026-05-22T14:45:02Z</dcterms:created>
  <dcterms:modified xsi:type="dcterms:W3CDTF">2026-05-23T08:03:44Z</dcterms:modified>
</cp:coreProperties>
</file>